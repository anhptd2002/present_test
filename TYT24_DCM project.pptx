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3" r:id="rId3"/>
    <p:sldId id="264" r:id="rId4"/>
    <p:sldId id="257" r:id="rId5"/>
    <p:sldId id="258" r:id="rId6"/>
    <p:sldId id="259" r:id="rId7"/>
    <p:sldId id="260" r:id="rId8"/>
    <p:sldId id="261" r:id="rId9"/>
    <p:sldId id="262" r:id="rId10"/>
    <p:sldId id="265"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5948" autoAdjust="0"/>
  </p:normalViewPr>
  <p:slideViewPr>
    <p:cSldViewPr snapToGrid="0">
      <p:cViewPr varScale="1">
        <p:scale>
          <a:sx n="46" d="100"/>
          <a:sy n="46" d="100"/>
        </p:scale>
        <p:origin x="209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A4B6F6-B9C4-40CA-829E-E1708210A66B}"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1A1E8E-CCF2-4312-8FF9-A86431FF2C30}" type="slidenum">
              <a:rPr lang="en-US" smtClean="0"/>
              <a:t>‹#›</a:t>
            </a:fld>
            <a:endParaRPr lang="en-US"/>
          </a:p>
        </p:txBody>
      </p:sp>
    </p:spTree>
    <p:extLst>
      <p:ext uri="{BB962C8B-B14F-4D97-AF65-F5344CB8AC3E}">
        <p14:creationId xmlns:p14="http://schemas.microsoft.com/office/powerpoint/2010/main" val="3418793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Khái</a:t>
            </a:r>
            <a:r>
              <a:rPr lang="en-US" b="1" dirty="0"/>
              <a:t> </a:t>
            </a:r>
            <a:r>
              <a:rPr lang="en-US" b="1" dirty="0" err="1"/>
              <a:t>niệm</a:t>
            </a:r>
            <a:r>
              <a:rPr lang="en-US" b="1" dirty="0"/>
              <a:t>: </a:t>
            </a:r>
            <a:r>
              <a:rPr lang="en-US" dirty="0" err="1"/>
              <a:t>Là</a:t>
            </a:r>
            <a:r>
              <a:rPr lang="en-US" dirty="0"/>
              <a:t> </a:t>
            </a:r>
            <a:r>
              <a:rPr lang="en-US" dirty="0" err="1"/>
              <a:t>sự</a:t>
            </a:r>
            <a:r>
              <a:rPr lang="en-US" dirty="0"/>
              <a:t> </a:t>
            </a:r>
            <a:r>
              <a:rPr lang="en-US" dirty="0" err="1"/>
              <a:t>kết</a:t>
            </a:r>
            <a:r>
              <a:rPr lang="en-US" dirty="0"/>
              <a:t> </a:t>
            </a:r>
            <a:r>
              <a:rPr lang="en-US" dirty="0" err="1"/>
              <a:t>hợp</a:t>
            </a:r>
            <a:r>
              <a:rPr lang="en-US" dirty="0"/>
              <a:t> </a:t>
            </a:r>
            <a:r>
              <a:rPr lang="en-US" dirty="0" err="1"/>
              <a:t>giữa</a:t>
            </a:r>
            <a:r>
              <a:rPr lang="en-US" dirty="0"/>
              <a:t> telecommunication </a:t>
            </a:r>
            <a:r>
              <a:rPr lang="en-US" dirty="0" err="1"/>
              <a:t>và</a:t>
            </a:r>
            <a:r>
              <a:rPr lang="en-US" dirty="0"/>
              <a:t> </a:t>
            </a:r>
            <a:r>
              <a:rPr lang="en-US" dirty="0" err="1"/>
              <a:t>infomatic</a:t>
            </a:r>
            <a:r>
              <a:rPr lang="en-US" dirty="0"/>
              <a:t>. </a:t>
            </a:r>
            <a:r>
              <a:rPr lang="en-US" dirty="0" err="1"/>
              <a:t>Là</a:t>
            </a:r>
            <a:r>
              <a:rPr lang="en-US" dirty="0"/>
              <a:t> </a:t>
            </a:r>
            <a:r>
              <a:rPr lang="en-US" dirty="0" err="1"/>
              <a:t>công</a:t>
            </a:r>
            <a:r>
              <a:rPr lang="en-US" dirty="0"/>
              <a:t> </a:t>
            </a:r>
            <a:r>
              <a:rPr lang="en-US" dirty="0" err="1"/>
              <a:t>nghệ</a:t>
            </a:r>
            <a:r>
              <a:rPr lang="en-US" dirty="0"/>
              <a:t> </a:t>
            </a:r>
            <a:r>
              <a:rPr lang="en-US" dirty="0" err="1"/>
              <a:t>gửi</a:t>
            </a:r>
            <a:r>
              <a:rPr lang="en-US" dirty="0"/>
              <a:t>, </a:t>
            </a:r>
            <a:r>
              <a:rPr lang="en-US" dirty="0" err="1"/>
              <a:t>nhận</a:t>
            </a:r>
            <a:r>
              <a:rPr lang="en-US" dirty="0"/>
              <a:t> </a:t>
            </a:r>
            <a:r>
              <a:rPr lang="en-US" dirty="0" err="1"/>
              <a:t>và</a:t>
            </a:r>
            <a:r>
              <a:rPr lang="en-US" dirty="0"/>
              <a:t> </a:t>
            </a:r>
            <a:r>
              <a:rPr lang="en-US" dirty="0" err="1"/>
              <a:t>lưu</a:t>
            </a:r>
            <a:r>
              <a:rPr lang="en-US" dirty="0"/>
              <a:t> </a:t>
            </a:r>
            <a:r>
              <a:rPr lang="en-US" dirty="0" err="1"/>
              <a:t>trữ</a:t>
            </a:r>
            <a:r>
              <a:rPr lang="en-US" dirty="0"/>
              <a:t> </a:t>
            </a:r>
            <a:r>
              <a:rPr lang="en-US" dirty="0" err="1"/>
              <a:t>thông</a:t>
            </a:r>
            <a:r>
              <a:rPr lang="en-US" dirty="0"/>
              <a:t> tin </a:t>
            </a:r>
            <a:r>
              <a:rPr lang="en-US" dirty="0" err="1"/>
              <a:t>liên</a:t>
            </a:r>
            <a:r>
              <a:rPr lang="en-US" dirty="0"/>
              <a:t> </a:t>
            </a:r>
            <a:r>
              <a:rPr lang="en-US" dirty="0" err="1"/>
              <a:t>quan</a:t>
            </a:r>
            <a:r>
              <a:rPr lang="en-US" dirty="0"/>
              <a:t> </a:t>
            </a:r>
            <a:r>
              <a:rPr lang="en-US" dirty="0" err="1"/>
              <a:t>đên</a:t>
            </a:r>
            <a:r>
              <a:rPr lang="en-US" dirty="0"/>
              <a:t> </a:t>
            </a:r>
            <a:r>
              <a:rPr lang="en-US" dirty="0" err="1"/>
              <a:t>phương</a:t>
            </a:r>
            <a:r>
              <a:rPr lang="en-US" dirty="0"/>
              <a:t> </a:t>
            </a:r>
            <a:r>
              <a:rPr lang="en-US" dirty="0" err="1"/>
              <a:t>tiện</a:t>
            </a:r>
            <a:r>
              <a:rPr lang="en-US" dirty="0"/>
              <a:t> </a:t>
            </a:r>
            <a:r>
              <a:rPr lang="en-US" dirty="0" err="1"/>
              <a:t>thông</a:t>
            </a:r>
            <a:r>
              <a:rPr lang="en-US" dirty="0"/>
              <a:t> qua </a:t>
            </a:r>
            <a:r>
              <a:rPr lang="en-US" dirty="0" err="1"/>
              <a:t>thiết</a:t>
            </a:r>
            <a:r>
              <a:rPr lang="en-US" dirty="0"/>
              <a:t> </a:t>
            </a:r>
            <a:r>
              <a:rPr lang="en-US" dirty="0" err="1"/>
              <a:t>bị</a:t>
            </a:r>
            <a:r>
              <a:rPr lang="en-US" dirty="0"/>
              <a:t> </a:t>
            </a:r>
            <a:r>
              <a:rPr lang="en-US" dirty="0" err="1"/>
              <a:t>viễn</a:t>
            </a:r>
            <a:r>
              <a:rPr lang="en-US" dirty="0"/>
              <a:t> </a:t>
            </a:r>
            <a:r>
              <a:rPr lang="en-US" dirty="0" err="1"/>
              <a:t>thông</a:t>
            </a:r>
            <a:r>
              <a:rPr lang="en-US" dirty="0"/>
              <a:t>. </a:t>
            </a:r>
            <a:r>
              <a:rPr lang="en-US" dirty="0" err="1"/>
              <a:t>Hệ</a:t>
            </a:r>
            <a:r>
              <a:rPr lang="en-US" dirty="0"/>
              <a:t> </a:t>
            </a:r>
            <a:r>
              <a:rPr lang="en-US" dirty="0" err="1"/>
              <a:t>tống</a:t>
            </a:r>
            <a:r>
              <a:rPr lang="en-US" dirty="0"/>
              <a:t> </a:t>
            </a:r>
            <a:r>
              <a:rPr lang="en-US" dirty="0" err="1"/>
              <a:t>này</a:t>
            </a:r>
            <a:r>
              <a:rPr lang="en-US" dirty="0"/>
              <a:t> </a:t>
            </a:r>
            <a:r>
              <a:rPr lang="en-US" dirty="0" err="1"/>
              <a:t>cho</a:t>
            </a:r>
            <a:r>
              <a:rPr lang="en-US" dirty="0"/>
              <a:t> </a:t>
            </a:r>
            <a:r>
              <a:rPr lang="en-US" dirty="0" err="1"/>
              <a:t>phép</a:t>
            </a:r>
            <a:r>
              <a:rPr lang="en-US" dirty="0"/>
              <a:t> ô </a:t>
            </a:r>
            <a:r>
              <a:rPr lang="en-US" dirty="0" err="1"/>
              <a:t>tô</a:t>
            </a:r>
            <a:r>
              <a:rPr lang="en-US" dirty="0"/>
              <a:t> </a:t>
            </a:r>
            <a:r>
              <a:rPr lang="en-US" dirty="0" err="1"/>
              <a:t>có</a:t>
            </a:r>
            <a:r>
              <a:rPr lang="en-US" dirty="0"/>
              <a:t> </a:t>
            </a:r>
            <a:r>
              <a:rPr lang="en-US" dirty="0" err="1"/>
              <a:t>thể</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bên</a:t>
            </a:r>
            <a:r>
              <a:rPr lang="en-US" dirty="0"/>
              <a:t> </a:t>
            </a:r>
            <a:r>
              <a:rPr lang="en-US" dirty="0" err="1"/>
              <a:t>ngoài</a:t>
            </a:r>
            <a:r>
              <a:rPr lang="en-US" dirty="0"/>
              <a:t> (</a:t>
            </a:r>
            <a:r>
              <a:rPr lang="en-US" dirty="0" err="1"/>
              <a:t>Nhà</a:t>
            </a:r>
            <a:r>
              <a:rPr lang="en-US" dirty="0"/>
              <a:t> </a:t>
            </a:r>
            <a:r>
              <a:rPr lang="en-US" dirty="0" err="1"/>
              <a:t>sản</a:t>
            </a:r>
            <a:r>
              <a:rPr lang="en-US" dirty="0"/>
              <a:t> </a:t>
            </a:r>
            <a:r>
              <a:rPr lang="en-US" dirty="0" err="1"/>
              <a:t>xuất</a:t>
            </a:r>
            <a:r>
              <a:rPr lang="en-US" dirty="0"/>
              <a:t>. </a:t>
            </a:r>
            <a:r>
              <a:rPr lang="en-US" dirty="0" err="1"/>
              <a:t>Chủ</a:t>
            </a:r>
            <a:r>
              <a:rPr lang="en-US" dirty="0"/>
              <a:t> </a:t>
            </a:r>
            <a:r>
              <a:rPr lang="en-US" dirty="0" err="1"/>
              <a:t>sở</a:t>
            </a:r>
            <a:r>
              <a:rPr lang="en-US" dirty="0"/>
              <a:t> </a:t>
            </a:r>
            <a:r>
              <a:rPr lang="en-US" dirty="0" err="1"/>
              <a:t>hữu</a:t>
            </a:r>
            <a:r>
              <a:rPr lang="en-US" dirty="0"/>
              <a:t>, </a:t>
            </a:r>
            <a:r>
              <a:rPr lang="en-US" dirty="0" err="1"/>
              <a:t>tổng</a:t>
            </a:r>
            <a:r>
              <a:rPr lang="en-US" dirty="0"/>
              <a:t> </a:t>
            </a:r>
            <a:r>
              <a:rPr lang="en-US" dirty="0" err="1"/>
              <a:t>đài</a:t>
            </a:r>
            <a:r>
              <a:rPr lang="en-US" dirty="0"/>
              <a:t> </a:t>
            </a:r>
            <a:r>
              <a:rPr lang="en-US" dirty="0" err="1"/>
              <a:t>cứu</a:t>
            </a:r>
            <a:r>
              <a:rPr lang="en-US" dirty="0"/>
              <a:t> </a:t>
            </a:r>
            <a:r>
              <a:rPr lang="en-US" dirty="0" err="1"/>
              <a:t>hộ</a:t>
            </a:r>
            <a:r>
              <a:rPr lang="en-US" dirty="0"/>
              <a:t>)</a:t>
            </a:r>
          </a:p>
          <a:p>
            <a:r>
              <a:rPr lang="en-US" b="1" dirty="0" err="1"/>
              <a:t>Cách</a:t>
            </a:r>
            <a:r>
              <a:rPr lang="en-US" b="1" dirty="0"/>
              <a:t> </a:t>
            </a:r>
            <a:r>
              <a:rPr lang="en-US" b="1" dirty="0" err="1"/>
              <a:t>thức</a:t>
            </a:r>
            <a:r>
              <a:rPr lang="en-US" b="1" dirty="0"/>
              <a:t> </a:t>
            </a:r>
            <a:r>
              <a:rPr lang="en-US" b="1" dirty="0" err="1"/>
              <a:t>hoạt</a:t>
            </a:r>
            <a:r>
              <a:rPr lang="en-US" b="1" dirty="0"/>
              <a:t> </a:t>
            </a:r>
            <a:r>
              <a:rPr lang="en-US" b="1" dirty="0" err="1"/>
              <a:t>động</a:t>
            </a:r>
            <a:r>
              <a:rPr lang="en-US" b="1" dirty="0"/>
              <a:t>: </a:t>
            </a:r>
          </a:p>
          <a:p>
            <a:r>
              <a:rPr lang="en-US" b="1" dirty="0"/>
              <a:t>	Thu </a:t>
            </a:r>
            <a:r>
              <a:rPr lang="en-US" b="1" dirty="0" err="1"/>
              <a:t>thập</a:t>
            </a:r>
            <a:r>
              <a:rPr lang="en-US" b="1" dirty="0"/>
              <a:t>: </a:t>
            </a:r>
            <a:r>
              <a:rPr lang="en-US" b="0" dirty="0"/>
              <a:t>TCU ( Telematics control unit-</a:t>
            </a:r>
            <a:r>
              <a:rPr lang="en-US" b="0" dirty="0" err="1"/>
              <a:t>bộ</a:t>
            </a:r>
            <a:r>
              <a:rPr lang="en-US" b="0" dirty="0"/>
              <a:t> </a:t>
            </a:r>
            <a:r>
              <a:rPr lang="en-US" b="0" dirty="0" err="1"/>
              <a:t>điều</a:t>
            </a:r>
            <a:r>
              <a:rPr lang="en-US" b="0" dirty="0"/>
              <a:t> </a:t>
            </a:r>
            <a:r>
              <a:rPr lang="en-US" b="0" dirty="0" err="1"/>
              <a:t>khiển</a:t>
            </a:r>
            <a:r>
              <a:rPr lang="en-US" b="0" dirty="0"/>
              <a:t> tin </a:t>
            </a:r>
            <a:r>
              <a:rPr lang="en-US" b="0" dirty="0" err="1"/>
              <a:t>học</a:t>
            </a:r>
            <a:r>
              <a:rPr lang="en-US" b="0" dirty="0"/>
              <a:t> </a:t>
            </a:r>
            <a:r>
              <a:rPr lang="en-US" b="0" dirty="0" err="1"/>
              <a:t>viễn</a:t>
            </a:r>
            <a:r>
              <a:rPr lang="en-US" b="0" dirty="0"/>
              <a:t> </a:t>
            </a:r>
            <a:r>
              <a:rPr lang="en-US" b="0" dirty="0" err="1"/>
              <a:t>thông</a:t>
            </a:r>
            <a:r>
              <a:rPr lang="en-US" b="0" dirty="0"/>
              <a:t>) </a:t>
            </a:r>
            <a:r>
              <a:rPr lang="en-US" b="0" dirty="0" err="1"/>
              <a:t>sẽ</a:t>
            </a:r>
            <a:r>
              <a:rPr lang="en-US" b="0" dirty="0"/>
              <a:t> </a:t>
            </a:r>
            <a:r>
              <a:rPr lang="en-US" b="0" dirty="0" err="1"/>
              <a:t>thu</a:t>
            </a:r>
            <a:r>
              <a:rPr lang="en-US" b="0" dirty="0"/>
              <a:t> </a:t>
            </a:r>
            <a:r>
              <a:rPr lang="en-US" b="0" dirty="0" err="1"/>
              <a:t>thập</a:t>
            </a:r>
            <a:r>
              <a:rPr lang="en-US" b="0" dirty="0"/>
              <a:t> </a:t>
            </a:r>
            <a:r>
              <a:rPr lang="en-US" b="0" dirty="0" err="1"/>
              <a:t>dữ</a:t>
            </a:r>
            <a:r>
              <a:rPr lang="en-US" b="0" dirty="0"/>
              <a:t> </a:t>
            </a:r>
            <a:r>
              <a:rPr lang="en-US" b="0" dirty="0" err="1"/>
              <a:t>liệu</a:t>
            </a:r>
            <a:r>
              <a:rPr lang="en-US" b="0" dirty="0"/>
              <a:t> </a:t>
            </a:r>
            <a:r>
              <a:rPr lang="en-US" b="0" dirty="0" err="1"/>
              <a:t>gửi</a:t>
            </a:r>
            <a:r>
              <a:rPr lang="en-US" b="0" dirty="0"/>
              <a:t> </a:t>
            </a:r>
            <a:r>
              <a:rPr lang="en-US" b="0" dirty="0" err="1"/>
              <a:t>về</a:t>
            </a:r>
            <a:r>
              <a:rPr lang="en-US" b="0" dirty="0"/>
              <a:t> </a:t>
            </a:r>
            <a:r>
              <a:rPr lang="en-US" b="0" dirty="0" err="1"/>
              <a:t>từ</a:t>
            </a:r>
            <a:r>
              <a:rPr lang="en-US" b="0" dirty="0"/>
              <a:t> </a:t>
            </a:r>
            <a:r>
              <a:rPr lang="en-US" b="0" dirty="0" err="1"/>
              <a:t>các</a:t>
            </a:r>
            <a:r>
              <a:rPr lang="en-US" b="0" dirty="0"/>
              <a:t> </a:t>
            </a:r>
            <a:r>
              <a:rPr lang="en-US" b="0" dirty="0" err="1"/>
              <a:t>cảm</a:t>
            </a:r>
            <a:r>
              <a:rPr lang="en-US" b="0" dirty="0"/>
              <a:t> </a:t>
            </a:r>
            <a:r>
              <a:rPr lang="en-US" b="0" dirty="0" err="1"/>
              <a:t>biến</a:t>
            </a:r>
            <a:r>
              <a:rPr lang="en-US" b="0" dirty="0"/>
              <a:t> (</a:t>
            </a:r>
            <a:r>
              <a:rPr lang="en-US" b="0" dirty="0" err="1"/>
              <a:t>Tốc</a:t>
            </a:r>
            <a:r>
              <a:rPr lang="en-US" b="0" dirty="0"/>
              <a:t> </a:t>
            </a:r>
            <a:r>
              <a:rPr lang="en-US" b="0" dirty="0" err="1"/>
              <a:t>độ</a:t>
            </a:r>
            <a:r>
              <a:rPr lang="en-US" b="0" dirty="0"/>
              <a:t>, </a:t>
            </a:r>
            <a:r>
              <a:rPr lang="en-US" b="0" dirty="0" err="1"/>
              <a:t>định</a:t>
            </a:r>
            <a:r>
              <a:rPr lang="en-US" b="0" dirty="0"/>
              <a:t> </a:t>
            </a:r>
            <a:r>
              <a:rPr lang="en-US" b="0" dirty="0" err="1"/>
              <a:t>vị</a:t>
            </a:r>
            <a:r>
              <a:rPr lang="en-US" b="0" dirty="0"/>
              <a:t>, </a:t>
            </a:r>
            <a:r>
              <a:rPr lang="en-US" b="0" dirty="0" err="1"/>
              <a:t>nhiệt</a:t>
            </a:r>
            <a:r>
              <a:rPr lang="en-US" b="0" dirty="0"/>
              <a:t> </a:t>
            </a:r>
            <a:r>
              <a:rPr lang="en-US" b="0" dirty="0" err="1"/>
              <a:t>độ</a:t>
            </a:r>
            <a:r>
              <a:rPr lang="en-US" b="0" dirty="0"/>
              <a:t>, </a:t>
            </a:r>
            <a:r>
              <a:rPr lang="en-US" b="0" dirty="0" err="1"/>
              <a:t>túi</a:t>
            </a:r>
            <a:r>
              <a:rPr lang="en-US" b="0" dirty="0"/>
              <a:t> </a:t>
            </a:r>
            <a:r>
              <a:rPr lang="en-US" b="0" dirty="0" err="1"/>
              <a:t>khí</a:t>
            </a:r>
            <a:r>
              <a:rPr lang="en-US" b="0" dirty="0"/>
              <a:t>,…) </a:t>
            </a:r>
            <a:r>
              <a:rPr lang="en-US" b="0" dirty="0" err="1"/>
              <a:t>thông</a:t>
            </a:r>
            <a:r>
              <a:rPr lang="en-US" b="0" dirty="0"/>
              <a:t> qua </a:t>
            </a:r>
            <a:r>
              <a:rPr lang="en-US" b="0" dirty="0" err="1"/>
              <a:t>các</a:t>
            </a:r>
            <a:r>
              <a:rPr lang="en-US" b="0" dirty="0"/>
              <a:t> </a:t>
            </a:r>
            <a:r>
              <a:rPr lang="en-US" b="0" dirty="0" err="1"/>
              <a:t>cảm</a:t>
            </a:r>
            <a:r>
              <a:rPr lang="en-US" b="0" dirty="0"/>
              <a:t> </a:t>
            </a:r>
            <a:r>
              <a:rPr lang="en-US" b="0" dirty="0" err="1"/>
              <a:t>biến</a:t>
            </a:r>
            <a:r>
              <a:rPr lang="en-US" b="0" dirty="0"/>
              <a:t>.</a:t>
            </a:r>
          </a:p>
          <a:p>
            <a:r>
              <a:rPr lang="en-US" b="0" dirty="0"/>
              <a:t>	</a:t>
            </a:r>
            <a:r>
              <a:rPr lang="en-US" b="1" dirty="0" err="1"/>
              <a:t>Truyền</a:t>
            </a:r>
            <a:r>
              <a:rPr lang="en-US" b="1" dirty="0"/>
              <a:t> </a:t>
            </a:r>
            <a:r>
              <a:rPr lang="en-US" b="1" dirty="0" err="1"/>
              <a:t>tải</a:t>
            </a:r>
            <a:r>
              <a:rPr lang="en-US" b="1" dirty="0"/>
              <a:t>: </a:t>
            </a:r>
            <a:r>
              <a:rPr lang="en-US" b="0" dirty="0"/>
              <a:t>TCU </a:t>
            </a:r>
            <a:r>
              <a:rPr lang="en-US" b="0" dirty="0" err="1"/>
              <a:t>gửi</a:t>
            </a:r>
            <a:r>
              <a:rPr lang="en-US" b="0" dirty="0"/>
              <a:t> </a:t>
            </a:r>
            <a:r>
              <a:rPr lang="en-US" b="0" dirty="0" err="1"/>
              <a:t>dữ</a:t>
            </a:r>
            <a:r>
              <a:rPr lang="en-US" b="0" dirty="0"/>
              <a:t> </a:t>
            </a:r>
            <a:r>
              <a:rPr lang="en-US" b="0" dirty="0" err="1"/>
              <a:t>liệu</a:t>
            </a:r>
            <a:r>
              <a:rPr lang="en-US" b="0" dirty="0"/>
              <a:t> </a:t>
            </a:r>
            <a:r>
              <a:rPr lang="en-US" b="0" dirty="0" err="1"/>
              <a:t>lên</a:t>
            </a:r>
            <a:r>
              <a:rPr lang="en-US" b="0" dirty="0"/>
              <a:t> Cloud server </a:t>
            </a:r>
            <a:r>
              <a:rPr lang="en-US" b="0" dirty="0" err="1"/>
              <a:t>thông</a:t>
            </a:r>
            <a:r>
              <a:rPr lang="en-US" b="0" dirty="0"/>
              <a:t> qua </a:t>
            </a:r>
            <a:r>
              <a:rPr lang="en-US" b="0" dirty="0" err="1"/>
              <a:t>mạng</a:t>
            </a:r>
            <a:r>
              <a:rPr lang="en-US" b="0" dirty="0"/>
              <a:t> di </a:t>
            </a:r>
            <a:r>
              <a:rPr lang="en-US" b="0" dirty="0" err="1"/>
              <a:t>động</a:t>
            </a:r>
            <a:r>
              <a:rPr lang="en-US" b="0" dirty="0"/>
              <a:t> (4G, 5G)</a:t>
            </a:r>
          </a:p>
          <a:p>
            <a:r>
              <a:rPr lang="en-US" b="0" dirty="0"/>
              <a:t>	</a:t>
            </a:r>
            <a:r>
              <a:rPr lang="en-US" b="1" dirty="0" err="1"/>
              <a:t>Xử</a:t>
            </a:r>
            <a:r>
              <a:rPr lang="en-US" b="1" dirty="0"/>
              <a:t> </a:t>
            </a:r>
            <a:r>
              <a:rPr lang="en-US" b="1" dirty="0" err="1"/>
              <a:t>lý</a:t>
            </a:r>
            <a:r>
              <a:rPr lang="en-US" b="1" dirty="0"/>
              <a:t> &amp; </a:t>
            </a:r>
            <a:r>
              <a:rPr lang="en-US" b="1" dirty="0" err="1"/>
              <a:t>lưu</a:t>
            </a:r>
            <a:r>
              <a:rPr lang="en-US" b="1" dirty="0"/>
              <a:t> </a:t>
            </a:r>
            <a:r>
              <a:rPr lang="en-US" b="1" dirty="0" err="1"/>
              <a:t>trữ</a:t>
            </a:r>
            <a:r>
              <a:rPr lang="en-US" b="1" dirty="0"/>
              <a:t>: </a:t>
            </a:r>
          </a:p>
          <a:p>
            <a:r>
              <a:rPr lang="en-US" b="1" dirty="0"/>
              <a:t>	</a:t>
            </a:r>
            <a:r>
              <a:rPr lang="en-US" b="1" dirty="0" err="1"/>
              <a:t>Phân</a:t>
            </a:r>
            <a:r>
              <a:rPr lang="en-US" b="1" dirty="0"/>
              <a:t> </a:t>
            </a:r>
            <a:r>
              <a:rPr lang="en-US" b="1" dirty="0" err="1"/>
              <a:t>phối</a:t>
            </a:r>
            <a:r>
              <a:rPr lang="en-US" b="1" dirty="0"/>
              <a:t>: </a:t>
            </a:r>
            <a:r>
              <a:rPr lang="en-US" b="0" dirty="0" err="1"/>
              <a:t>Dữ</a:t>
            </a:r>
            <a:r>
              <a:rPr lang="en-US" b="0" dirty="0"/>
              <a:t> </a:t>
            </a:r>
            <a:r>
              <a:rPr lang="en-US" b="0" dirty="0" err="1"/>
              <a:t>liệu</a:t>
            </a:r>
            <a:r>
              <a:rPr lang="en-US" b="0" dirty="0"/>
              <a:t> </a:t>
            </a:r>
            <a:r>
              <a:rPr lang="en-US" b="0" dirty="0" err="1"/>
              <a:t>sau</a:t>
            </a:r>
            <a:r>
              <a:rPr lang="en-US" b="0" dirty="0"/>
              <a:t> </a:t>
            </a:r>
            <a:r>
              <a:rPr lang="en-US" b="0" dirty="0" err="1"/>
              <a:t>khi</a:t>
            </a:r>
            <a:r>
              <a:rPr lang="en-US" b="0" dirty="0"/>
              <a:t> </a:t>
            </a:r>
            <a:r>
              <a:rPr lang="en-US" b="0" dirty="0" err="1"/>
              <a:t>xử</a:t>
            </a:r>
            <a:r>
              <a:rPr lang="en-US" b="0" dirty="0"/>
              <a:t> </a:t>
            </a:r>
            <a:r>
              <a:rPr lang="en-US" b="0" dirty="0" err="1"/>
              <a:t>lý</a:t>
            </a:r>
            <a:r>
              <a:rPr lang="en-US" b="0" dirty="0"/>
              <a:t> </a:t>
            </a:r>
            <a:r>
              <a:rPr lang="en-US" b="0" dirty="0" err="1"/>
              <a:t>sẽ</a:t>
            </a:r>
            <a:r>
              <a:rPr lang="en-US" b="0" dirty="0"/>
              <a:t> </a:t>
            </a:r>
            <a:r>
              <a:rPr lang="en-US" b="0" dirty="0" err="1"/>
              <a:t>được</a:t>
            </a:r>
            <a:r>
              <a:rPr lang="en-US" b="0" dirty="0"/>
              <a:t> </a:t>
            </a:r>
            <a:r>
              <a:rPr lang="en-US" b="0" dirty="0" err="1"/>
              <a:t>điều</a:t>
            </a:r>
            <a:r>
              <a:rPr lang="en-US" b="0" dirty="0"/>
              <a:t> </a:t>
            </a:r>
            <a:r>
              <a:rPr lang="en-US" b="0" dirty="0" err="1"/>
              <a:t>phối</a:t>
            </a:r>
            <a:r>
              <a:rPr lang="en-US" b="0" dirty="0"/>
              <a:t>/ </a:t>
            </a:r>
            <a:r>
              <a:rPr lang="en-US" b="0" dirty="0" err="1"/>
              <a:t>truyền</a:t>
            </a:r>
            <a:r>
              <a:rPr lang="en-US" b="0" dirty="0"/>
              <a:t> </a:t>
            </a:r>
            <a:r>
              <a:rPr lang="en-US" b="0" dirty="0" err="1"/>
              <a:t>về</a:t>
            </a:r>
            <a:r>
              <a:rPr lang="en-US" b="0" dirty="0"/>
              <a:t> </a:t>
            </a:r>
            <a:r>
              <a:rPr lang="en-US" b="0" dirty="0" err="1"/>
              <a:t>cho</a:t>
            </a:r>
            <a:r>
              <a:rPr lang="en-US" b="0" dirty="0"/>
              <a:t>:</a:t>
            </a:r>
          </a:p>
          <a:p>
            <a:r>
              <a:rPr lang="en-US" b="0" dirty="0"/>
              <a:t>		Telematics App: </a:t>
            </a:r>
            <a:r>
              <a:rPr lang="en-US" b="0" dirty="0" err="1"/>
              <a:t>ứng</a:t>
            </a:r>
            <a:r>
              <a:rPr lang="en-US" b="0" dirty="0"/>
              <a:t> </a:t>
            </a:r>
            <a:r>
              <a:rPr lang="en-US" b="0" dirty="0" err="1"/>
              <a:t>dụng</a:t>
            </a:r>
            <a:r>
              <a:rPr lang="en-US" b="0" dirty="0"/>
              <a:t> </a:t>
            </a:r>
            <a:r>
              <a:rPr lang="en-US" b="0" dirty="0" err="1"/>
              <a:t>trên</a:t>
            </a:r>
            <a:r>
              <a:rPr lang="en-US" b="0" dirty="0"/>
              <a:t> </a:t>
            </a:r>
            <a:r>
              <a:rPr lang="en-US" b="0" dirty="0" err="1"/>
              <a:t>điện</a:t>
            </a:r>
            <a:r>
              <a:rPr lang="en-US" b="0" dirty="0"/>
              <a:t> </a:t>
            </a:r>
            <a:r>
              <a:rPr lang="en-US" b="0" dirty="0" err="1"/>
              <a:t>thoại</a:t>
            </a:r>
            <a:r>
              <a:rPr lang="en-US" b="0" dirty="0"/>
              <a:t> </a:t>
            </a:r>
            <a:r>
              <a:rPr lang="en-US" b="0" dirty="0" err="1"/>
              <a:t>hoặc</a:t>
            </a:r>
            <a:r>
              <a:rPr lang="en-US" b="0" dirty="0"/>
              <a:t> </a:t>
            </a:r>
            <a:r>
              <a:rPr lang="en-US" b="0" dirty="0" err="1"/>
              <a:t>máy</a:t>
            </a:r>
            <a:r>
              <a:rPr lang="en-US" b="0" dirty="0"/>
              <a:t> </a:t>
            </a:r>
            <a:r>
              <a:rPr lang="en-US" b="0" dirty="0" err="1"/>
              <a:t>tính</a:t>
            </a:r>
            <a:r>
              <a:rPr lang="en-US" b="0" dirty="0"/>
              <a:t> </a:t>
            </a:r>
            <a:r>
              <a:rPr lang="en-US" b="0" dirty="0" err="1"/>
              <a:t>của</a:t>
            </a:r>
            <a:r>
              <a:rPr lang="en-US" b="0" dirty="0"/>
              <a:t> </a:t>
            </a:r>
            <a:r>
              <a:rPr lang="en-US" b="0" dirty="0" err="1"/>
              <a:t>người</a:t>
            </a:r>
            <a:r>
              <a:rPr lang="en-US" b="0" dirty="0"/>
              <a:t> dung </a:t>
            </a:r>
            <a:r>
              <a:rPr lang="en-US" b="0" dirty="0" err="1"/>
              <a:t>cuối</a:t>
            </a:r>
            <a:r>
              <a:rPr lang="en-US" b="0" dirty="0"/>
              <a:t>.</a:t>
            </a:r>
          </a:p>
          <a:p>
            <a:r>
              <a:rPr lang="en-US" b="0" dirty="0"/>
              <a:t>		Third party </a:t>
            </a:r>
            <a:r>
              <a:rPr lang="en-US" b="0" dirty="0" err="1"/>
              <a:t>Intergration</a:t>
            </a:r>
            <a:r>
              <a:rPr lang="en-US" b="0" dirty="0"/>
              <a:t>: </a:t>
            </a:r>
            <a:r>
              <a:rPr lang="en-US" b="0" dirty="0" err="1"/>
              <a:t>Tích</a:t>
            </a:r>
            <a:r>
              <a:rPr lang="en-US" b="0" dirty="0"/>
              <a:t> </a:t>
            </a:r>
            <a:r>
              <a:rPr lang="en-US" b="0" dirty="0" err="1"/>
              <a:t>hợp</a:t>
            </a:r>
            <a:r>
              <a:rPr lang="en-US" b="0" dirty="0"/>
              <a:t> </a:t>
            </a:r>
            <a:r>
              <a:rPr lang="en-US" b="0" dirty="0" err="1"/>
              <a:t>cho</a:t>
            </a:r>
            <a:r>
              <a:rPr lang="en-US" b="0" dirty="0"/>
              <a:t> </a:t>
            </a:r>
            <a:r>
              <a:rPr lang="en-US" b="0" dirty="0" err="1"/>
              <a:t>bên</a:t>
            </a:r>
            <a:r>
              <a:rPr lang="en-US" b="0" dirty="0"/>
              <a:t> </a:t>
            </a:r>
            <a:r>
              <a:rPr lang="en-US" b="0" dirty="0" err="1"/>
              <a:t>thứ</a:t>
            </a:r>
            <a:r>
              <a:rPr lang="en-US" b="0" dirty="0"/>
              <a:t> 3: </a:t>
            </a:r>
            <a:r>
              <a:rPr lang="en-US" b="0" dirty="0" err="1"/>
              <a:t>Tổng</a:t>
            </a:r>
            <a:r>
              <a:rPr lang="en-US" b="0" dirty="0"/>
              <a:t> </a:t>
            </a:r>
            <a:r>
              <a:rPr lang="en-US" b="0" dirty="0" err="1"/>
              <a:t>đài</a:t>
            </a:r>
            <a:r>
              <a:rPr lang="en-US" b="0" dirty="0"/>
              <a:t> </a:t>
            </a:r>
            <a:r>
              <a:rPr lang="en-US" b="0" dirty="0" err="1"/>
              <a:t>cứu</a:t>
            </a:r>
            <a:r>
              <a:rPr lang="en-US" b="0" dirty="0"/>
              <a:t> </a:t>
            </a:r>
            <a:r>
              <a:rPr lang="en-US" b="0" dirty="0" err="1"/>
              <a:t>hộ</a:t>
            </a:r>
            <a:r>
              <a:rPr lang="en-US" b="0" dirty="0"/>
              <a:t>, </a:t>
            </a:r>
            <a:r>
              <a:rPr lang="en-US" b="0" dirty="0" err="1"/>
              <a:t>bảo</a:t>
            </a:r>
            <a:r>
              <a:rPr lang="en-US" b="0" dirty="0"/>
              <a:t> </a:t>
            </a:r>
            <a:r>
              <a:rPr lang="en-US" b="0" dirty="0" err="1"/>
              <a:t>dưỡng</a:t>
            </a:r>
            <a:r>
              <a:rPr lang="en-US" b="0" dirty="0"/>
              <a:t>,…</a:t>
            </a:r>
            <a:endParaRPr lang="en-US" b="1" dirty="0"/>
          </a:p>
        </p:txBody>
      </p:sp>
      <p:sp>
        <p:nvSpPr>
          <p:cNvPr id="4" name="Slide Number Placeholder 3"/>
          <p:cNvSpPr>
            <a:spLocks noGrp="1"/>
          </p:cNvSpPr>
          <p:nvPr>
            <p:ph type="sldNum" sz="quarter" idx="5"/>
          </p:nvPr>
        </p:nvSpPr>
        <p:spPr/>
        <p:txBody>
          <a:bodyPr/>
          <a:lstStyle/>
          <a:p>
            <a:fld id="{4B1A1E8E-CCF2-4312-8FF9-A86431FF2C30}" type="slidenum">
              <a:rPr lang="en-US" smtClean="0"/>
              <a:t>2</a:t>
            </a:fld>
            <a:endParaRPr lang="en-US"/>
          </a:p>
        </p:txBody>
      </p:sp>
    </p:spTree>
    <p:extLst>
      <p:ext uri="{BB962C8B-B14F-4D97-AF65-F5344CB8AC3E}">
        <p14:creationId xmlns:p14="http://schemas.microsoft.com/office/powerpoint/2010/main" val="4265172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eCall là gì?</a:t>
            </a:r>
            <a:r>
              <a:rPr lang="vi-VN" dirty="0"/>
              <a:t> Hệ thống eCall tự động </a:t>
            </a:r>
            <a:r>
              <a:rPr lang="en-US" dirty="0" err="1"/>
              <a:t>kích</a:t>
            </a:r>
            <a:r>
              <a:rPr lang="en-US" dirty="0"/>
              <a:t> </a:t>
            </a:r>
            <a:r>
              <a:rPr lang="en-US" dirty="0" err="1"/>
              <a:t>hoạt</a:t>
            </a:r>
            <a:r>
              <a:rPr lang="en-US" dirty="0"/>
              <a:t> </a:t>
            </a:r>
            <a:r>
              <a:rPr lang="en-US" dirty="0" err="1"/>
              <a:t>cuộc</a:t>
            </a:r>
            <a:r>
              <a:rPr lang="en-US" dirty="0"/>
              <a:t> </a:t>
            </a:r>
            <a:r>
              <a:rPr lang="en-US" dirty="0" err="1"/>
              <a:t>gọi</a:t>
            </a:r>
            <a:r>
              <a:rPr lang="en-US" dirty="0"/>
              <a:t> </a:t>
            </a:r>
            <a:r>
              <a:rPr lang="vi-VN" dirty="0"/>
              <a:t>khẩn cấp trong trường hợp xảy ra tai nạn nghiêm trọng và truyền thông tin vị trí của xe đến lực lượng cứu hộ. Cuộc gọi này có thể được kích hoạt tự động thông qua cảm biến trên xe hoặc thủ công, mang theo bộ dữ liệu chuẩn hóa (bao gồm loại xe và vị trí) và thiết lập kênh âm thanh giữa xe và trung tâm tiếp nhận cuộc gọi khẩn cấp (PSAP – Public Safety Answering Points) qua mạng di động công cộng.</a:t>
            </a:r>
            <a:endParaRPr lang="en-US" dirty="0"/>
          </a:p>
          <a:p>
            <a:endParaRPr lang="en-US" dirty="0"/>
          </a:p>
          <a:p>
            <a:r>
              <a:rPr lang="en-US" b="1" dirty="0" err="1"/>
              <a:t>Luồng</a:t>
            </a:r>
            <a:r>
              <a:rPr lang="en-US" b="1" dirty="0"/>
              <a:t> </a:t>
            </a:r>
            <a:r>
              <a:rPr lang="en-US" b="1" dirty="0" err="1"/>
              <a:t>hoạt</a:t>
            </a:r>
            <a:r>
              <a:rPr lang="en-US" b="1" dirty="0"/>
              <a:t> </a:t>
            </a:r>
            <a:r>
              <a:rPr lang="en-US" b="1" dirty="0" err="1"/>
              <a:t>động</a:t>
            </a:r>
            <a:r>
              <a:rPr lang="en-US" b="1" dirty="0"/>
              <a:t>:</a:t>
            </a:r>
          </a:p>
          <a:p>
            <a:r>
              <a:rPr lang="vi-VN" b="0" dirty="0"/>
              <a:t>1. Khối Kích hoạt &amp; Khởi tạo (Trigger &amp; Initialization Phase)</a:t>
            </a:r>
          </a:p>
          <a:p>
            <a:r>
              <a:rPr lang="vi-VN" b="0" dirty="0"/>
              <a:t>​Khi tín hiệu Airbag Signal Detected (từ hộp điều khiển túi khí - ACU qua mạng CAN Bus) được gửi đến DCM, hệ thống thực hiện song song 3 tác vụ với độ ưu tiên cao nhất:</a:t>
            </a:r>
          </a:p>
          <a:p>
            <a:r>
              <a:rPr lang="vi-VN" b="0" dirty="0"/>
              <a:t>​* Phát âm thanh Beep 8</a:t>
            </a:r>
          </a:p>
          <a:p>
            <a:r>
              <a:rPr lang="vi-VN" b="0" dirty="0"/>
              <a:t>​</a:t>
            </a:r>
            <a:r>
              <a:rPr lang="en-US" b="0" dirty="0"/>
              <a:t>* </a:t>
            </a:r>
            <a:r>
              <a:rPr lang="vi-VN" b="0" dirty="0"/>
              <a:t>Kích hoạt đèn LED Xanh nhấp nháy theo Pattern C</a:t>
            </a:r>
          </a:p>
          <a:p>
            <a:r>
              <a:rPr lang="en-US" b="0" dirty="0"/>
              <a:t>* </a:t>
            </a:r>
            <a:r>
              <a:rPr lang="vi-VN" b="0" dirty="0"/>
              <a:t>​Xử lý Voice Prompt ban đầu: Phát chuỗi thoại ACN-1 và ACN-2 (thường là: "Đang kết nối cuộc gọi khẩn cấp, vui lòng chờ").</a:t>
            </a:r>
          </a:p>
          <a:p>
            <a:r>
              <a:rPr lang="vi-VN" b="0" dirty="0"/>
              <a:t>​</a:t>
            </a:r>
            <a:endParaRPr lang="en-US" b="0" dirty="0"/>
          </a:p>
          <a:p>
            <a:r>
              <a:rPr lang="en-US" b="0" dirty="0"/>
              <a:t>*</a:t>
            </a:r>
            <a:r>
              <a:rPr lang="vi-VN" b="0" dirty="0"/>
              <a:t>Đóng gói MSD (Minimum Set of Data): Khối Prepare Emergency Notification Data sẽ đóng gói các byte dữ liệu theo tiêu chuẩn eCall . Dữ liệu bao gồm:</a:t>
            </a:r>
          </a:p>
          <a:p>
            <a:r>
              <a:rPr lang="vi-VN" b="0" dirty="0"/>
              <a:t>​Vị trí hiện tại (Kinh độ, Vĩ độ) từ chip GNSS/GPS.</a:t>
            </a:r>
          </a:p>
          <a:p>
            <a:r>
              <a:rPr lang="vi-VN" b="0" dirty="0"/>
              <a:t>​Thời gian xảy ra tai nạn (Timestamp).</a:t>
            </a:r>
          </a:p>
          <a:p>
            <a:r>
              <a:rPr lang="vi-VN" b="0" dirty="0"/>
              <a:t>​Hướng di chuyển (Heading angle).</a:t>
            </a:r>
          </a:p>
          <a:p>
            <a:r>
              <a:rPr lang="vi-VN" b="0" dirty="0"/>
              <a:t>​Mã nhận diện xe (VIN - Vehicle Identification Number).</a:t>
            </a:r>
          </a:p>
          <a:p>
            <a:r>
              <a:rPr lang="vi-VN" b="0" dirty="0"/>
              <a:t>​Trạng thái xe (Mức độ va chạm, số lượng dây an toàn được cài...).</a:t>
            </a:r>
            <a:endParaRPr lang="en-US" b="0" dirty="0"/>
          </a:p>
          <a:p>
            <a:endParaRPr lang="vi-VN" b="0" dirty="0"/>
          </a:p>
          <a:p>
            <a:r>
              <a:rPr lang="vi-VN" b="0" dirty="0"/>
              <a:t>​2. Khối Rẽ nhánh Logic Kết nối (Call &amp; Data Transmission Routing)</a:t>
            </a:r>
          </a:p>
          <a:p>
            <a:r>
              <a:rPr lang="vi-VN" b="0" dirty="0"/>
              <a:t>​​Nhánh 1: Cả Thoại và Dữ liệu đều thành công (Both Successful? -&gt; Yes)</a:t>
            </a:r>
          </a:p>
          <a:p>
            <a:r>
              <a:rPr lang="vi-VN" b="0" dirty="0"/>
              <a:t>​Trạng thái tiếp theo: Chuyển thẳng sang Talk with Operator (Đàm thoại trực tiếp).</a:t>
            </a:r>
            <a:endParaRPr lang="en-US" b="0" dirty="0"/>
          </a:p>
          <a:p>
            <a:endParaRPr lang="vi-VN" b="0" dirty="0"/>
          </a:p>
          <a:p>
            <a:r>
              <a:rPr lang="vi-VN" b="0" dirty="0"/>
              <a:t>​Nhánh 2: Chỉ thành công truyền Dữ liệu (Data Only)</a:t>
            </a:r>
          </a:p>
          <a:p>
            <a:r>
              <a:rPr lang="vi-VN" b="0" dirty="0"/>
              <a:t>​​Xử lý: </a:t>
            </a:r>
            <a:r>
              <a:rPr lang="en-US" b="0" dirty="0"/>
              <a:t>	</a:t>
            </a:r>
            <a:r>
              <a:rPr lang="vi-VN" b="0" dirty="0"/>
              <a:t>1.  Hệ thống chuyển sang trạng thái chờ/thử lại cuộc gọi thoại: Voice Retry Up to 24 hours.</a:t>
            </a:r>
          </a:p>
          <a:p>
            <a:r>
              <a:rPr lang="en-US" b="0" dirty="0"/>
              <a:t>	</a:t>
            </a:r>
            <a:r>
              <a:rPr lang="vi-VN" b="0" dirty="0"/>
              <a:t>2.  Kích hoạt Timer giám sát (theo *Note 1). Cứ mỗi 60 giây (1 phút), hệ thống sẽ kiểm tra lý do lỗi (Failure Reason):</a:t>
            </a:r>
          </a:p>
          <a:p>
            <a:r>
              <a:rPr lang="vi-VN" b="0" dirty="0"/>
              <a:t>* Nếu là No Coverage (Mất sóng hoàn toàn): Phát file thoại ACN-3 ("Không có tín hiệu mạng").</a:t>
            </a:r>
          </a:p>
          <a:p>
            <a:pPr marL="171450" indent="-171450">
              <a:buFont typeface="Arial" panose="020B0604020202020204" pitchFamily="34" charset="0"/>
              <a:buChar char="•"/>
            </a:pPr>
            <a:r>
              <a:rPr lang="vi-VN" b="0" dirty="0"/>
              <a:t>Nếu là Other (Lỗi nghẽn mạng, lỗi tổng đài bận...): Phát file thoại SOS_ACN-4 ("Lỗi kết nối cuộc gọi").</a:t>
            </a:r>
          </a:p>
          <a:p>
            <a:r>
              <a:rPr lang="en-US" b="0" dirty="0"/>
              <a:t>	</a:t>
            </a:r>
            <a:r>
              <a:rPr lang="vi-VN" b="0" dirty="0"/>
              <a:t>3.  Vòng lặp thử lại này chạy liên tục cho đến khi kết nối thoại thành công (Voice Retry Success? -&gt; Yes) để vào trạng thái Talk with Operator, HOẶC hết thời gian thử lại (hết 24 giờ/hết ắc-quy) thì chuyển sang nhánh thất bại hoàn toàn.</a:t>
            </a:r>
            <a:endParaRPr lang="en-US" b="0" dirty="0"/>
          </a:p>
          <a:p>
            <a:endParaRPr lang="vi-VN" b="0" dirty="0"/>
          </a:p>
          <a:p>
            <a:r>
              <a:rPr lang="vi-VN" b="0" dirty="0"/>
              <a:t>​Nhánh 3: Chỉ thành công kết nối Thoại (Voice Only)</a:t>
            </a:r>
          </a:p>
          <a:p>
            <a:r>
              <a:rPr lang="vi-VN" b="0" dirty="0"/>
              <a:t>​Xử lý dựa trên Biến thể phần cứng (DCM Variant):</a:t>
            </a:r>
          </a:p>
          <a:p>
            <a:r>
              <a:rPr lang="vi-VN" b="0" dirty="0"/>
              <a:t>​Nếu là NA DCM (Thị trường Bắc Mỹ): Hệ thống sử dụng hạ tầng SMS làm kênh dự phòng (Fallback channel) -&gt; Thực hiện lệnh Upload Data via SMS. Sau khi gửi SMS chứa dữ liệu xong, hệ thống duy trì trạng thái Talk with Operator.</a:t>
            </a:r>
          </a:p>
          <a:p>
            <a:r>
              <a:rPr lang="vi-VN" b="0" dirty="0"/>
              <a:t>​Nếu là Variant khác (Other): Hệ thống kích hoạt bộ thử lại dữ liệu Data Retry Up to 24 hours (thử gửi lại gói data qua mạng cellular) song song với việc giữ kết nối đàm thoại Talk with Operator.</a:t>
            </a:r>
          </a:p>
          <a:p>
            <a:endParaRPr lang="en-US" b="0" dirty="0"/>
          </a:p>
          <a:p>
            <a:r>
              <a:rPr lang="vi-VN" b="0" dirty="0"/>
              <a:t>​Nhánh 4: Thất bại hoàn toàn (No Voice, No Data)</a:t>
            </a:r>
          </a:p>
          <a:p>
            <a:r>
              <a:rPr lang="vi-VN" b="0" dirty="0"/>
              <a:t>​NA DCM: Cố gắng kích hoạt giao thức Upload Data via SMS trước, sau đó đẩy toàn bộ vào luồng Voice + Data Retry Up to 24 hours.</a:t>
            </a:r>
          </a:p>
          <a:p>
            <a:r>
              <a:rPr lang="vi-VN" b="0" dirty="0"/>
              <a:t>​Variant khác (Other): Vào thẳng luồng Voice + Data Retry Up to 24 hours. Hệ thống liên tục lặp lại chu kỳ quét mạng, thử kết nối lại cả thoại và dữ liệu, đồng thời phát tiếng thoại ACN-3 hoặc SOS_ACN-4 mỗi phút một lần dựa trên trạng thái sóng thực tế (định thời bằng Timer Active *1).</a:t>
            </a:r>
            <a:endParaRPr lang="en-US" b="0" dirty="0"/>
          </a:p>
          <a:p>
            <a:endParaRPr lang="vi-VN" b="0" dirty="0"/>
          </a:p>
          <a:p>
            <a:r>
              <a:rPr lang="vi-VN" b="0" dirty="0"/>
              <a:t>​3. Khối Quản lý Kết thúc &amp; Chế độ Chờ Gọi lại (Termination &amp; Standby Phase)</a:t>
            </a:r>
          </a:p>
          <a:p>
            <a:r>
              <a:rPr lang="vi-VN" b="0" dirty="0"/>
              <a:t>​Xử lý Ngoại lệ: Ngắt cuộc gọi bất thường (Termination Intentional?)</a:t>
            </a:r>
          </a:p>
          <a:p>
            <a:r>
              <a:rPr lang="vi-VN" b="0" dirty="0"/>
              <a:t>​Khi cuộc gọi với operator kết thúc</a:t>
            </a:r>
            <a:r>
              <a:rPr lang="en-US" b="0" dirty="0"/>
              <a:t>, </a:t>
            </a:r>
            <a:r>
              <a:rPr lang="vi-VN" b="0" dirty="0"/>
              <a:t>hệ thống gửi một tín hiệu kết thúc lên hệ thống mạng. Ngay sau đó, phần mềm kiểm tra:</a:t>
            </a:r>
          </a:p>
          <a:p>
            <a:r>
              <a:rPr lang="vi-VN" b="0" dirty="0"/>
              <a:t>​Nếu Termination Intentional? -&gt; No: Đây là trường hợp cuộc gọi bị rớt (Drop call) do xe di chuyển vào vùng sóng yếu, hầm, hoặc lỗi mạng giữa chừng chứ người dùng hay toán viên chưa chủ động cúp máy.</a:t>
            </a:r>
          </a:p>
          <a:p>
            <a:r>
              <a:rPr lang="vi-VN" b="0" dirty="0"/>
              <a:t>​Hành động: Phát Play Prompt SOS_ACN-6 ("Cuộc gọi bị gián đoạn, hệ thống đang kết nối lại") và tự động quay ngược lại bước Start Emergency Voice Call... để tái thiết lập cuộc gọi.</a:t>
            </a:r>
          </a:p>
          <a:p>
            <a:r>
              <a:rPr lang="vi-VN" b="0" dirty="0"/>
              <a:t>​Nếu Termination Intentional? -&gt; Yes: Cuộc gọi kết thúc bình thường (Tổng đài viên bấm cúp máy sau khi đã xác nhận tình trạng xe).</a:t>
            </a:r>
          </a:p>
          <a:p>
            <a:r>
              <a:rPr lang="vi-VN" b="0" dirty="0"/>
              <a:t>​Hành động: Tắt đèn LED xanh, phát thoại SOS_ACN-2 ("Kết thúc cuộc gọi, hệ thống chuyển sang chế độ chờ"), và kích hoạt bộ đếm thời gian chờ gọi lại (Start Callback Standby Timer).</a:t>
            </a:r>
          </a:p>
          <a:p>
            <a:r>
              <a:rPr lang="vi-VN" b="0" dirty="0"/>
              <a:t>​Cơ chế Chờ cuộc gọi lại (TSP Callback Standby)</a:t>
            </a:r>
          </a:p>
          <a:p>
            <a:r>
              <a:rPr lang="vi-VN" b="0" dirty="0"/>
              <a:t>​Hệ thống chuyển về trạng thái TSP Callback Standby (Idle). Đây là trạng thái cực kỳ quan trọng trong Automotive Telematics nhằm giữ cho modem luôn "mở cửa" nhận cuộc gọi ngược từ tổng đài (ví dụ: cứu hộ muốn gọi lại để cập nhật vị trí xe).</a:t>
            </a:r>
          </a:p>
          <a:p>
            <a:r>
              <a:rPr lang="vi-VN" b="0" dirty="0"/>
              <a:t>​Kịch bản 1: Hết thời gian chờ (Timer Expired)</a:t>
            </a:r>
          </a:p>
          <a:p>
            <a:r>
              <a:rPr lang="vi-VN" b="0" dirty="0"/>
              <a:t>​Nếu trong suốt khoảng thời gian quy định (thường là 10 - 30 phút tùy cấu hình phần mềm) mà không có cuộc gọi nào từ TSP, hệ thống sẽ đóng Session khẩn cấp và quay về trạng thái nghỉ hoàn toàn (Idle).</a:t>
            </a:r>
          </a:p>
          <a:p>
            <a:r>
              <a:rPr lang="vi-VN" b="0" dirty="0"/>
              <a:t>​Kịch bản 2: Có yêu cầu gọi lại (TSP Callback Request)</a:t>
            </a:r>
          </a:p>
          <a:p>
            <a:r>
              <a:rPr lang="vi-VN" b="0" dirty="0"/>
              <a:t>​Nếu tổng đài gọi lại trong khi Timer còn chạy (Timer Active), DCM sẽ lập tức đánh thức hệ thống (Wake-up), nhấp nháy lại đèn LED xanh (Pattern C), phát tiếng Beep 8 và tự động bắt máy để đưa người dùng trở lại trạng thái Talk with Operator.</a:t>
            </a:r>
          </a:p>
          <a:p>
            <a:r>
              <a:rPr lang="vi-VN" b="0" dirty="0"/>
              <a:t>​4. Khối Xử lý Hủy bỏ / Thất bại Cuối cùng (Final Failure Handling)</a:t>
            </a:r>
          </a:p>
          <a:p>
            <a:r>
              <a:rPr lang="vi-VN" b="0" dirty="0"/>
              <a:t>​Trong trường hợp luồng Voice Retry lặp lại liên tục nhưng không thể kết nối lại thành công (Voice Retry Success? -&gt; No), hệ thống bắt buộc phải dừng tiến trình để tránh cạn kiệt ắc-quy xe (Battery Drain Management):</a:t>
            </a:r>
          </a:p>
          <a:p>
            <a:r>
              <a:rPr lang="vi-VN" b="0" dirty="0"/>
              <a:t>​Hệ thống kiểm tra Failure Reason lần cuối:</a:t>
            </a:r>
          </a:p>
          <a:p>
            <a:r>
              <a:rPr lang="vi-VN" b="0" dirty="0"/>
              <a:t>​Do No Coverage: Phát Play Prompt SOS_ACN-8 ("Không thể kết nối do không có tín hiệu mạng, vui lòng thử lại sau").</a:t>
            </a:r>
          </a:p>
          <a:p>
            <a:r>
              <a:rPr lang="vi-VN" b="0" dirty="0"/>
              <a:t>​Do Other: Phát Play Prompt SOS_ACN-9 ("Kết nối thất bại do lỗi hệ thống").</a:t>
            </a:r>
          </a:p>
          <a:p>
            <a:r>
              <a:rPr lang="vi-VN" b="0" dirty="0"/>
              <a:t>​Thực hiện Stop Green Indicator LED blink (Tắt đèn cảnh báo lỗi/hoạt động).</a:t>
            </a:r>
          </a:p>
          <a:p>
            <a:r>
              <a:rPr lang="vi-VN" b="0" dirty="0"/>
              <a:t>​Chuyển trạng thái máy trạng thái (State Machine) về lại TSP Callback Standby (Idle) để đợi một chu kỳ mới hoặc chờ lệnh gọi lại từ mạng nếu sóng ổn định trở lại.</a:t>
            </a:r>
          </a:p>
          <a:p>
            <a:endParaRPr lang="en-US" b="0" dirty="0"/>
          </a:p>
        </p:txBody>
      </p:sp>
      <p:sp>
        <p:nvSpPr>
          <p:cNvPr id="4" name="Slide Number Placeholder 3"/>
          <p:cNvSpPr>
            <a:spLocks noGrp="1"/>
          </p:cNvSpPr>
          <p:nvPr>
            <p:ph type="sldNum" sz="quarter" idx="5"/>
          </p:nvPr>
        </p:nvSpPr>
        <p:spPr/>
        <p:txBody>
          <a:bodyPr/>
          <a:lstStyle/>
          <a:p>
            <a:fld id="{4B1A1E8E-CCF2-4312-8FF9-A86431FF2C30}" type="slidenum">
              <a:rPr lang="en-US" smtClean="0"/>
              <a:t>3</a:t>
            </a:fld>
            <a:endParaRPr lang="en-US"/>
          </a:p>
        </p:txBody>
      </p:sp>
    </p:spTree>
    <p:extLst>
      <p:ext uri="{BB962C8B-B14F-4D97-AF65-F5344CB8AC3E}">
        <p14:creationId xmlns:p14="http://schemas.microsoft.com/office/powerpoint/2010/main" val="315496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t>
            </a:r>
            <a:r>
              <a:rPr lang="vi-VN" dirty="0"/>
              <a:t> Kiến trúc của dự án </a:t>
            </a:r>
          </a:p>
          <a:p>
            <a:r>
              <a:rPr lang="vi-VN" dirty="0"/>
              <a:t>	query: Thiết lập output console và tổng hợp kết quả và gửi report về mail</a:t>
            </a:r>
          </a:p>
          <a:p>
            <a:r>
              <a:rPr lang="vi-VN" dirty="0"/>
              <a:t>	Resource: lưu các file định nghĩa các keywords hoặc các file json chứa data test.</a:t>
            </a:r>
          </a:p>
          <a:p>
            <a:r>
              <a:rPr lang="vi-VN" dirty="0"/>
              <a:t>	tests: lưu các file tests scripts</a:t>
            </a:r>
            <a:endParaRPr lang="en-US" dirty="0"/>
          </a:p>
          <a:p>
            <a:r>
              <a:rPr lang="en-US" dirty="0"/>
              <a:t>	Folder </a:t>
            </a:r>
            <a:r>
              <a:rPr lang="en-US" dirty="0" err="1"/>
              <a:t>chính</a:t>
            </a:r>
            <a:r>
              <a:rPr lang="en-US" dirty="0"/>
              <a:t> </a:t>
            </a:r>
            <a:r>
              <a:rPr lang="en-US" dirty="0" err="1"/>
              <a:t>mà</a:t>
            </a:r>
            <a:r>
              <a:rPr lang="en-US" dirty="0"/>
              <a:t> </a:t>
            </a:r>
            <a:r>
              <a:rPr lang="en-US" dirty="0" err="1"/>
              <a:t>chúng</a:t>
            </a:r>
            <a:r>
              <a:rPr lang="en-US" dirty="0"/>
              <a:t> ta </a:t>
            </a:r>
            <a:r>
              <a:rPr lang="en-US" dirty="0" err="1"/>
              <a:t>sẽ</a:t>
            </a:r>
            <a:r>
              <a:rPr lang="en-US" dirty="0"/>
              <a:t> </a:t>
            </a:r>
            <a:r>
              <a:rPr lang="en-US" dirty="0" err="1"/>
              <a:t>làm</a:t>
            </a:r>
            <a:r>
              <a:rPr lang="en-US" dirty="0"/>
              <a:t> </a:t>
            </a:r>
            <a:r>
              <a:rPr lang="en-US" dirty="0" err="1"/>
              <a:t>việc</a:t>
            </a:r>
            <a:r>
              <a:rPr lang="en-US" dirty="0"/>
              <a:t> </a:t>
            </a:r>
            <a:r>
              <a:rPr lang="en-US" dirty="0" err="1"/>
              <a:t>là</a:t>
            </a:r>
            <a:r>
              <a:rPr lang="en-US" dirty="0"/>
              <a:t> folder Test</a:t>
            </a:r>
          </a:p>
        </p:txBody>
      </p:sp>
      <p:sp>
        <p:nvSpPr>
          <p:cNvPr id="4" name="Slide Number Placeholder 3"/>
          <p:cNvSpPr>
            <a:spLocks noGrp="1"/>
          </p:cNvSpPr>
          <p:nvPr>
            <p:ph type="sldNum" sz="quarter" idx="5"/>
          </p:nvPr>
        </p:nvSpPr>
        <p:spPr/>
        <p:txBody>
          <a:bodyPr/>
          <a:lstStyle/>
          <a:p>
            <a:fld id="{4B1A1E8E-CCF2-4312-8FF9-A86431FF2C30}" type="slidenum">
              <a:rPr lang="en-US" smtClean="0"/>
              <a:t>4</a:t>
            </a:fld>
            <a:endParaRPr lang="en-US"/>
          </a:p>
        </p:txBody>
      </p:sp>
    </p:spTree>
    <p:extLst>
      <p:ext uri="{BB962C8B-B14F-4D97-AF65-F5344CB8AC3E}">
        <p14:creationId xmlns:p14="http://schemas.microsoft.com/office/powerpoint/2010/main" val="1710645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
            </a:r>
            <a:r>
              <a:rPr lang="en-US" dirty="0" err="1"/>
              <a:t>Các</a:t>
            </a:r>
            <a:r>
              <a:rPr lang="en-US" dirty="0"/>
              <a:t> node test </a:t>
            </a:r>
          </a:p>
          <a:p>
            <a:r>
              <a:rPr lang="en-US" dirty="0"/>
              <a:t>	70: 4G (SANITY, BVT, API), test region: ASEAN, IN</a:t>
            </a:r>
          </a:p>
          <a:p>
            <a:r>
              <a:rPr lang="en-US" dirty="0"/>
              <a:t>	71: 5G (BVT, API), test region: NA</a:t>
            </a:r>
          </a:p>
          <a:p>
            <a:r>
              <a:rPr lang="en-US" dirty="0"/>
              <a:t>	72: 4G (SANITY, BVT, API), test </a:t>
            </a:r>
            <a:r>
              <a:rPr lang="en-US" dirty="0" err="1"/>
              <a:t>region:JP</a:t>
            </a:r>
            <a:endParaRPr lang="en-US" dirty="0"/>
          </a:p>
          <a:p>
            <a:r>
              <a:rPr lang="en-US" dirty="0"/>
              <a:t>	73: 5G (SANITY, BVT, API), test region: NA</a:t>
            </a:r>
          </a:p>
          <a:p>
            <a:r>
              <a:rPr lang="en-US" dirty="0"/>
              <a:t>	74: 5G (SANITY, BVT, API), test region: CN</a:t>
            </a:r>
          </a:p>
        </p:txBody>
      </p:sp>
      <p:sp>
        <p:nvSpPr>
          <p:cNvPr id="4" name="Slide Number Placeholder 3"/>
          <p:cNvSpPr>
            <a:spLocks noGrp="1"/>
          </p:cNvSpPr>
          <p:nvPr>
            <p:ph type="sldNum" sz="quarter" idx="5"/>
          </p:nvPr>
        </p:nvSpPr>
        <p:spPr/>
        <p:txBody>
          <a:bodyPr/>
          <a:lstStyle/>
          <a:p>
            <a:fld id="{4B1A1E8E-CCF2-4312-8FF9-A86431FF2C30}" type="slidenum">
              <a:rPr lang="en-US" smtClean="0"/>
              <a:t>5</a:t>
            </a:fld>
            <a:endParaRPr lang="en-US"/>
          </a:p>
        </p:txBody>
      </p:sp>
    </p:spTree>
    <p:extLst>
      <p:ext uri="{BB962C8B-B14F-4D97-AF65-F5344CB8AC3E}">
        <p14:creationId xmlns:p14="http://schemas.microsoft.com/office/powerpoint/2010/main" val="164441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KHÁI NIỆM: </a:t>
            </a:r>
          </a:p>
          <a:p>
            <a:r>
              <a:rPr lang="vi-VN" dirty="0"/>
              <a:t>	Là Build Verification Test – bộ kiểm thử nhanh để xác nhận bản build mới có thể chạy ổn định.</a:t>
            </a:r>
          </a:p>
          <a:p>
            <a:r>
              <a:rPr lang="vi-VN" dirty="0"/>
              <a:t>	Thường kiểm tra các chức năng cốt lõi: boot, flash, SIM, kết nối.</a:t>
            </a:r>
          </a:p>
          <a:p>
            <a:r>
              <a:rPr lang="vi-VN" dirty="0"/>
              <a:t>MỤC ĐÍCH:</a:t>
            </a:r>
          </a:p>
          <a:p>
            <a:r>
              <a:rPr lang="vi-VN" dirty="0"/>
              <a:t>	Phát hiện lỗi lớn sớm, reject build lỗi ngay từ đầu.</a:t>
            </a:r>
          </a:p>
          <a:p>
            <a:r>
              <a:rPr lang="vi-VN" dirty="0"/>
              <a:t>	Đảm bảo build mới đủ ổn định trước khi chạy các test chuyên sâu.</a:t>
            </a:r>
          </a:p>
          <a:p>
            <a:r>
              <a:rPr lang="vi-VN" dirty="0"/>
              <a:t>	Tiết kiệm thời gian và công sức cho đội kiểm thử.</a:t>
            </a:r>
          </a:p>
          <a:p>
            <a:endParaRPr lang="en-US" dirty="0"/>
          </a:p>
        </p:txBody>
      </p:sp>
      <p:sp>
        <p:nvSpPr>
          <p:cNvPr id="4" name="Slide Number Placeholder 3"/>
          <p:cNvSpPr>
            <a:spLocks noGrp="1"/>
          </p:cNvSpPr>
          <p:nvPr>
            <p:ph type="sldNum" sz="quarter" idx="5"/>
          </p:nvPr>
        </p:nvSpPr>
        <p:spPr/>
        <p:txBody>
          <a:bodyPr/>
          <a:lstStyle/>
          <a:p>
            <a:fld id="{4B1A1E8E-CCF2-4312-8FF9-A86431FF2C30}" type="slidenum">
              <a:rPr lang="en-US" smtClean="0"/>
              <a:t>6</a:t>
            </a:fld>
            <a:endParaRPr lang="en-US"/>
          </a:p>
        </p:txBody>
      </p:sp>
    </p:spTree>
    <p:extLst>
      <p:ext uri="{BB962C8B-B14F-4D97-AF65-F5344CB8AC3E}">
        <p14:creationId xmlns:p14="http://schemas.microsoft.com/office/powerpoint/2010/main" val="188400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KHÁI NIỆM:</a:t>
            </a:r>
          </a:p>
          <a:p>
            <a:r>
              <a:rPr lang="vi-VN" dirty="0"/>
              <a:t>	Là kiểm thử sức khỏe tổng quát của hệ thống.</a:t>
            </a:r>
          </a:p>
          <a:p>
            <a:r>
              <a:rPr lang="vi-VN" dirty="0"/>
              <a:t>	Chạy các test case đơn giản, nhanh, tập trung vào chức năng nền tảng: gọi điện, SMS, mạng, SIM.</a:t>
            </a:r>
          </a:p>
          <a:p>
            <a:r>
              <a:rPr lang="vi-VN" dirty="0"/>
              <a:t>	Giúp xác nhận hệ thống có thể dùng được trước khi chạy test phức tạp.</a:t>
            </a:r>
          </a:p>
          <a:p>
            <a:r>
              <a:rPr lang="vi-VN" dirty="0"/>
              <a:t>MỤC ĐÍCH:</a:t>
            </a:r>
          </a:p>
          <a:p>
            <a:r>
              <a:rPr lang="vi-VN" dirty="0"/>
              <a:t>	Đảm bảo các chức năng cơ bản hoạt động đúng.</a:t>
            </a:r>
          </a:p>
          <a:p>
            <a:r>
              <a:rPr lang="vi-VN" dirty="0"/>
              <a:t>	Tiết kiệm thời gian bằng cách phát hiện lỗi build hỏng ngay.</a:t>
            </a:r>
          </a:p>
          <a:p>
            <a:r>
              <a:rPr lang="vi-VN" dirty="0"/>
              <a:t>	Tạo niềm tin để chuyển sang các bước kiểm thử nâng cao.</a:t>
            </a:r>
          </a:p>
          <a:p>
            <a:r>
              <a:rPr lang="vi-VN" dirty="0"/>
              <a:t>	Giảm rủi ro khi chạy test dài và phức tạp.</a:t>
            </a:r>
            <a:endParaRPr lang="en-US" dirty="0"/>
          </a:p>
        </p:txBody>
      </p:sp>
      <p:sp>
        <p:nvSpPr>
          <p:cNvPr id="4" name="Slide Number Placeholder 3"/>
          <p:cNvSpPr>
            <a:spLocks noGrp="1"/>
          </p:cNvSpPr>
          <p:nvPr>
            <p:ph type="sldNum" sz="quarter" idx="5"/>
          </p:nvPr>
        </p:nvSpPr>
        <p:spPr/>
        <p:txBody>
          <a:bodyPr/>
          <a:lstStyle/>
          <a:p>
            <a:fld id="{4B1A1E8E-CCF2-4312-8FF9-A86431FF2C30}" type="slidenum">
              <a:rPr lang="en-US" smtClean="0"/>
              <a:t>7</a:t>
            </a:fld>
            <a:endParaRPr lang="en-US"/>
          </a:p>
        </p:txBody>
      </p:sp>
    </p:spTree>
    <p:extLst>
      <p:ext uri="{BB962C8B-B14F-4D97-AF65-F5344CB8AC3E}">
        <p14:creationId xmlns:p14="http://schemas.microsoft.com/office/powerpoint/2010/main" val="4085462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KHÁI NIỆM:</a:t>
            </a:r>
          </a:p>
          <a:p>
            <a:r>
              <a:rPr lang="vi-VN" dirty="0"/>
              <a:t>	Là kiểm thử các API/command của hệ thống (SIM/eSIM, MQTT, network, location…).</a:t>
            </a:r>
          </a:p>
          <a:p>
            <a:r>
              <a:rPr lang="vi-VN" dirty="0"/>
              <a:t>	Tập trung vào việc xác minh từng lệnh nhỏ hoạt động đúng và trả về dữ liệu mong đợi.</a:t>
            </a:r>
          </a:p>
          <a:p>
            <a:r>
              <a:rPr lang="vi-VN" dirty="0"/>
              <a:t>MỤC ĐÍCH:</a:t>
            </a:r>
          </a:p>
          <a:p>
            <a:r>
              <a:rPr lang="vi-VN" dirty="0"/>
              <a:t>	Đảm bảo giao tiếp giữa phần mềm và phần cứng chính xác.</a:t>
            </a:r>
          </a:p>
          <a:p>
            <a:r>
              <a:rPr lang="vi-VN" dirty="0"/>
              <a:t>	Phát hiện lỗi logic sớm ở tầng thấp.</a:t>
            </a:r>
          </a:p>
          <a:p>
            <a:r>
              <a:rPr lang="vi-VN" dirty="0"/>
              <a:t>	Xác nhận hệ thống vẫn ổn định sau khi flash hoặc cập nhật.</a:t>
            </a:r>
          </a:p>
          <a:p>
            <a:r>
              <a:rPr lang="vi-VN" dirty="0"/>
              <a:t>	Tăng độ tin cậy cho các test cao hơn (BVT, Sanity)</a:t>
            </a:r>
            <a:endParaRPr lang="en-US" dirty="0"/>
          </a:p>
          <a:p>
            <a:r>
              <a:rPr lang="en-US" dirty="0"/>
              <a:t>DCM PF: </a:t>
            </a:r>
          </a:p>
          <a:p>
            <a:r>
              <a:rPr lang="en-US" dirty="0">
                <a:effectLst/>
              </a:rPr>
              <a:t>	</a:t>
            </a:r>
            <a:r>
              <a:rPr lang="vi-VN" dirty="0">
                <a:effectLst/>
              </a:rPr>
              <a:t>Là </a:t>
            </a:r>
            <a:r>
              <a:rPr lang="vi-VN" b="1" dirty="0">
                <a:effectLst/>
              </a:rPr>
              <a:t>Platform Framework</a:t>
            </a:r>
            <a:r>
              <a:rPr lang="vi-VN" dirty="0">
                <a:effectLst/>
              </a:rPr>
              <a:t> của Data Communication Module.</a:t>
            </a:r>
            <a:endParaRPr lang="vi-VN" dirty="0"/>
          </a:p>
          <a:p>
            <a:r>
              <a:rPr lang="en-US" dirty="0">
                <a:effectLst/>
              </a:rPr>
              <a:t>	</a:t>
            </a:r>
            <a:r>
              <a:rPr lang="vi-VN" dirty="0">
                <a:effectLst/>
              </a:rPr>
              <a:t>Thực thi các chức năng lõi: quản lý dữ liệu, bảo mật, điều phối giữa NAD, DCE và dịch vụ từ xa.</a:t>
            </a:r>
            <a:endParaRPr lang="vi-VN" dirty="0"/>
          </a:p>
          <a:p>
            <a:r>
              <a:rPr lang="en-US" dirty="0">
                <a:effectLst/>
              </a:rPr>
              <a:t>	</a:t>
            </a:r>
            <a:r>
              <a:rPr lang="vi-VN" dirty="0">
                <a:effectLst/>
              </a:rPr>
              <a:t>Đảm bảo truyền dữ liệu </a:t>
            </a:r>
            <a:r>
              <a:rPr lang="vi-VN" b="1" dirty="0">
                <a:effectLst/>
              </a:rPr>
              <a:t>an toàn và ổn định</a:t>
            </a:r>
            <a:r>
              <a:rPr lang="vi-VN" dirty="0">
                <a:effectLst/>
              </a:rPr>
              <a:t>.</a:t>
            </a:r>
            <a:endParaRPr lang="vi-VN" dirty="0"/>
          </a:p>
          <a:p>
            <a:r>
              <a:rPr lang="en-US" dirty="0">
                <a:effectLst/>
              </a:rPr>
              <a:t>	</a:t>
            </a:r>
            <a:r>
              <a:rPr lang="vi-VN" dirty="0">
                <a:effectLst/>
              </a:rPr>
              <a:t>Tích hợp với </a:t>
            </a:r>
            <a:r>
              <a:rPr lang="vi-VN" b="1" dirty="0">
                <a:effectLst/>
              </a:rPr>
              <a:t>BSW</a:t>
            </a:r>
            <a:r>
              <a:rPr lang="vi-VN" dirty="0">
                <a:effectLst/>
              </a:rPr>
              <a:t> để truy cập phần cứng.</a:t>
            </a:r>
            <a:endParaRPr lang="vi-VN" dirty="0"/>
          </a:p>
          <a:p>
            <a:r>
              <a:rPr lang="en-US" dirty="0">
                <a:effectLst/>
              </a:rPr>
              <a:t>	</a:t>
            </a:r>
            <a:r>
              <a:rPr lang="vi-VN" dirty="0">
                <a:effectLst/>
              </a:rPr>
              <a:t>Quản lý năng lượng, giám sát modem, hỗ trợ OTA (Over-The-Air update).</a:t>
            </a:r>
            <a:endParaRPr lang="en-US" dirty="0">
              <a:effectLst/>
            </a:endParaRPr>
          </a:p>
          <a:p>
            <a:r>
              <a:rPr lang="en-US" b="0" dirty="0">
                <a:effectLst/>
              </a:rPr>
              <a:t>DCM PF API</a:t>
            </a:r>
            <a:endParaRPr lang="en-US" b="0" dirty="0"/>
          </a:p>
          <a:p>
            <a:pPr>
              <a:buFont typeface="Arial" panose="020B0604020202020204" pitchFamily="34" charset="0"/>
              <a:buNone/>
            </a:pPr>
            <a:r>
              <a:rPr lang="en-US" dirty="0">
                <a:effectLst/>
              </a:rPr>
              <a:t>	</a:t>
            </a:r>
            <a:r>
              <a:rPr lang="en-US" dirty="0" err="1">
                <a:effectLst/>
              </a:rPr>
              <a:t>Là</a:t>
            </a:r>
            <a:r>
              <a:rPr lang="en-US" dirty="0">
                <a:effectLst/>
              </a:rPr>
              <a:t> </a:t>
            </a:r>
            <a:r>
              <a:rPr lang="en-US" b="1" dirty="0" err="1">
                <a:effectLst/>
              </a:rPr>
              <a:t>giao</a:t>
            </a:r>
            <a:r>
              <a:rPr lang="en-US" b="1" dirty="0">
                <a:effectLst/>
              </a:rPr>
              <a:t> </a:t>
            </a:r>
            <a:r>
              <a:rPr lang="en-US" b="1" dirty="0" err="1">
                <a:effectLst/>
              </a:rPr>
              <a:t>diện</a:t>
            </a:r>
            <a:r>
              <a:rPr lang="en-US" b="1" dirty="0">
                <a:effectLst/>
              </a:rPr>
              <a:t> </a:t>
            </a:r>
            <a:r>
              <a:rPr lang="en-US" b="1" dirty="0" err="1">
                <a:effectLst/>
              </a:rPr>
              <a:t>lập</a:t>
            </a:r>
            <a:r>
              <a:rPr lang="en-US" b="1" dirty="0">
                <a:effectLst/>
              </a:rPr>
              <a:t> </a:t>
            </a:r>
            <a:r>
              <a:rPr lang="en-US" b="1" dirty="0" err="1">
                <a:effectLst/>
              </a:rPr>
              <a:t>trình</a:t>
            </a:r>
            <a:r>
              <a:rPr lang="en-US" b="1" dirty="0">
                <a:effectLst/>
              </a:rPr>
              <a:t> </a:t>
            </a:r>
            <a:r>
              <a:rPr lang="en-US" b="1" dirty="0" err="1">
                <a:effectLst/>
              </a:rPr>
              <a:t>ứng</a:t>
            </a:r>
            <a:r>
              <a:rPr lang="en-US" b="1" dirty="0">
                <a:effectLst/>
              </a:rPr>
              <a:t> </a:t>
            </a:r>
            <a:r>
              <a:rPr lang="en-US" b="1" dirty="0" err="1">
                <a:effectLst/>
              </a:rPr>
              <a:t>dụng</a:t>
            </a:r>
            <a:r>
              <a:rPr lang="en-US" b="1" dirty="0">
                <a:effectLst/>
              </a:rPr>
              <a:t> (API)</a:t>
            </a:r>
            <a:r>
              <a:rPr lang="en-US" dirty="0">
                <a:effectLst/>
              </a:rPr>
              <a:t>.</a:t>
            </a:r>
            <a:endParaRPr lang="en-US" dirty="0"/>
          </a:p>
          <a:p>
            <a:pPr>
              <a:buFont typeface="Arial" panose="020B0604020202020204" pitchFamily="34" charset="0"/>
              <a:buNone/>
            </a:pPr>
            <a:r>
              <a:rPr lang="en-US" dirty="0">
                <a:effectLst/>
              </a:rPr>
              <a:t>	Cho </a:t>
            </a:r>
            <a:r>
              <a:rPr lang="en-US" dirty="0" err="1">
                <a:effectLst/>
              </a:rPr>
              <a:t>phép</a:t>
            </a:r>
            <a:r>
              <a:rPr lang="en-US" dirty="0">
                <a:effectLst/>
              </a:rPr>
              <a:t> </a:t>
            </a:r>
            <a:r>
              <a:rPr lang="en-US" dirty="0" err="1">
                <a:effectLst/>
              </a:rPr>
              <a:t>các</a:t>
            </a:r>
            <a:r>
              <a:rPr lang="en-US" dirty="0">
                <a:effectLst/>
              </a:rPr>
              <a:t> </a:t>
            </a:r>
            <a:r>
              <a:rPr lang="en-US" dirty="0" err="1">
                <a:effectLst/>
              </a:rPr>
              <a:t>ứng</a:t>
            </a:r>
            <a:r>
              <a:rPr lang="en-US" dirty="0">
                <a:effectLst/>
              </a:rPr>
              <a:t> </a:t>
            </a:r>
            <a:r>
              <a:rPr lang="en-US" dirty="0" err="1">
                <a:effectLst/>
              </a:rPr>
              <a:t>dụng</a:t>
            </a:r>
            <a:r>
              <a:rPr lang="en-US" dirty="0">
                <a:effectLst/>
              </a:rPr>
              <a:t> </a:t>
            </a:r>
            <a:r>
              <a:rPr lang="en-US" dirty="0" err="1">
                <a:effectLst/>
              </a:rPr>
              <a:t>hoặc</a:t>
            </a:r>
            <a:r>
              <a:rPr lang="en-US" dirty="0">
                <a:effectLst/>
              </a:rPr>
              <a:t> </a:t>
            </a:r>
            <a:r>
              <a:rPr lang="en-US" dirty="0" err="1">
                <a:effectLst/>
              </a:rPr>
              <a:t>dịch</a:t>
            </a:r>
            <a:r>
              <a:rPr lang="en-US" dirty="0">
                <a:effectLst/>
              </a:rPr>
              <a:t> </a:t>
            </a:r>
            <a:r>
              <a:rPr lang="en-US" dirty="0" err="1">
                <a:effectLst/>
              </a:rPr>
              <a:t>vụ</a:t>
            </a:r>
            <a:r>
              <a:rPr lang="en-US" dirty="0">
                <a:effectLst/>
              </a:rPr>
              <a:t> </a:t>
            </a:r>
            <a:r>
              <a:rPr lang="en-US" dirty="0" err="1">
                <a:effectLst/>
              </a:rPr>
              <a:t>bên</a:t>
            </a:r>
            <a:r>
              <a:rPr lang="en-US" dirty="0">
                <a:effectLst/>
              </a:rPr>
              <a:t> </a:t>
            </a:r>
            <a:r>
              <a:rPr lang="en-US" dirty="0" err="1">
                <a:effectLst/>
              </a:rPr>
              <a:t>ngoài</a:t>
            </a:r>
            <a:r>
              <a:rPr lang="en-US" dirty="0">
                <a:effectLst/>
              </a:rPr>
              <a:t> </a:t>
            </a:r>
            <a:r>
              <a:rPr lang="en-US" dirty="0" err="1">
                <a:effectLst/>
              </a:rPr>
              <a:t>truy</a:t>
            </a:r>
            <a:r>
              <a:rPr lang="en-US" dirty="0">
                <a:effectLst/>
              </a:rPr>
              <a:t> </a:t>
            </a:r>
            <a:r>
              <a:rPr lang="en-US" dirty="0" err="1">
                <a:effectLst/>
              </a:rPr>
              <a:t>cập</a:t>
            </a:r>
            <a:r>
              <a:rPr lang="en-US" dirty="0">
                <a:effectLst/>
              </a:rPr>
              <a:t> </a:t>
            </a:r>
            <a:r>
              <a:rPr lang="en-US" dirty="0" err="1">
                <a:effectLst/>
              </a:rPr>
              <a:t>chức</a:t>
            </a:r>
            <a:r>
              <a:rPr lang="en-US" dirty="0">
                <a:effectLst/>
              </a:rPr>
              <a:t> </a:t>
            </a:r>
            <a:r>
              <a:rPr lang="en-US" dirty="0" err="1">
                <a:effectLst/>
              </a:rPr>
              <a:t>năng</a:t>
            </a:r>
            <a:r>
              <a:rPr lang="en-US" dirty="0">
                <a:effectLst/>
              </a:rPr>
              <a:t> </a:t>
            </a:r>
            <a:r>
              <a:rPr lang="en-US" dirty="0" err="1">
                <a:effectLst/>
              </a:rPr>
              <a:t>của</a:t>
            </a:r>
            <a:r>
              <a:rPr lang="en-US" dirty="0">
                <a:effectLst/>
              </a:rPr>
              <a:t> DCM PF.</a:t>
            </a:r>
            <a:endParaRPr lang="en-US" dirty="0"/>
          </a:p>
          <a:p>
            <a:pPr>
              <a:buFont typeface="Arial" panose="020B0604020202020204" pitchFamily="34" charset="0"/>
              <a:buNone/>
            </a:pPr>
            <a:r>
              <a:rPr lang="en-US" dirty="0">
                <a:effectLst/>
              </a:rPr>
              <a:t>	Cung </a:t>
            </a:r>
            <a:r>
              <a:rPr lang="en-US" dirty="0" err="1">
                <a:effectLst/>
              </a:rPr>
              <a:t>cấp</a:t>
            </a:r>
            <a:r>
              <a:rPr lang="en-US" dirty="0">
                <a:effectLst/>
              </a:rPr>
              <a:t> </a:t>
            </a:r>
            <a:r>
              <a:rPr lang="en-US" dirty="0" err="1">
                <a:effectLst/>
              </a:rPr>
              <a:t>hàm</a:t>
            </a:r>
            <a:r>
              <a:rPr lang="en-US" dirty="0">
                <a:effectLst/>
              </a:rPr>
              <a:t> </a:t>
            </a:r>
            <a:r>
              <a:rPr lang="en-US" dirty="0" err="1">
                <a:effectLst/>
              </a:rPr>
              <a:t>để</a:t>
            </a:r>
            <a:r>
              <a:rPr lang="en-US" dirty="0">
                <a:effectLst/>
              </a:rPr>
              <a:t>:</a:t>
            </a:r>
          </a:p>
          <a:p>
            <a:pPr>
              <a:buFont typeface="Arial" panose="020B0604020202020204" pitchFamily="34" charset="0"/>
              <a:buNone/>
            </a:pPr>
            <a:r>
              <a:rPr lang="en-US" dirty="0">
                <a:effectLst/>
              </a:rPr>
              <a:t>	</a:t>
            </a:r>
            <a:r>
              <a:rPr lang="en-US" dirty="0" err="1">
                <a:effectLst/>
              </a:rPr>
              <a:t>Quản</a:t>
            </a:r>
            <a:r>
              <a:rPr lang="en-US" dirty="0">
                <a:effectLst/>
              </a:rPr>
              <a:t> </a:t>
            </a:r>
            <a:r>
              <a:rPr lang="en-US" dirty="0" err="1">
                <a:effectLst/>
              </a:rPr>
              <a:t>lý</a:t>
            </a:r>
            <a:r>
              <a:rPr lang="en-US" dirty="0">
                <a:effectLst/>
              </a:rPr>
              <a:t> </a:t>
            </a:r>
            <a:r>
              <a:rPr lang="en-US" dirty="0" err="1">
                <a:effectLst/>
              </a:rPr>
              <a:t>trạng</a:t>
            </a:r>
            <a:r>
              <a:rPr lang="en-US" dirty="0">
                <a:effectLst/>
              </a:rPr>
              <a:t> </a:t>
            </a:r>
            <a:r>
              <a:rPr lang="en-US" dirty="0" err="1">
                <a:effectLst/>
              </a:rPr>
              <a:t>thái</a:t>
            </a:r>
            <a:r>
              <a:rPr lang="en-US" dirty="0">
                <a:effectLst/>
              </a:rPr>
              <a:t> </a:t>
            </a:r>
            <a:r>
              <a:rPr lang="en-US" dirty="0" err="1">
                <a:effectLst/>
              </a:rPr>
              <a:t>kết</a:t>
            </a:r>
            <a:r>
              <a:rPr lang="en-US" dirty="0">
                <a:effectLst/>
              </a:rPr>
              <a:t> </a:t>
            </a:r>
            <a:r>
              <a:rPr lang="en-US" dirty="0" err="1">
                <a:effectLst/>
              </a:rPr>
              <a:t>nối</a:t>
            </a:r>
            <a:r>
              <a:rPr lang="en-US" dirty="0">
                <a:effectLst/>
              </a:rPr>
              <a:t>.</a:t>
            </a:r>
          </a:p>
          <a:p>
            <a:pPr>
              <a:buFont typeface="Arial" panose="020B0604020202020204" pitchFamily="34" charset="0"/>
              <a:buNone/>
            </a:pPr>
            <a:r>
              <a:rPr lang="en-US" dirty="0">
                <a:effectLst/>
              </a:rPr>
              <a:t>	</a:t>
            </a:r>
            <a:r>
              <a:rPr lang="en-US" dirty="0" err="1">
                <a:effectLst/>
              </a:rPr>
              <a:t>Tạo</a:t>
            </a:r>
            <a:r>
              <a:rPr lang="en-US" dirty="0">
                <a:effectLst/>
              </a:rPr>
              <a:t> </a:t>
            </a:r>
            <a:r>
              <a:rPr lang="en-US" dirty="0" err="1">
                <a:effectLst/>
              </a:rPr>
              <a:t>và</a:t>
            </a:r>
            <a:r>
              <a:rPr lang="en-US" dirty="0">
                <a:effectLst/>
              </a:rPr>
              <a:t> </a:t>
            </a:r>
            <a:r>
              <a:rPr lang="en-US" dirty="0" err="1">
                <a:effectLst/>
              </a:rPr>
              <a:t>điều</a:t>
            </a:r>
            <a:r>
              <a:rPr lang="en-US" dirty="0">
                <a:effectLst/>
              </a:rPr>
              <a:t> </a:t>
            </a:r>
            <a:r>
              <a:rPr lang="en-US" dirty="0" err="1">
                <a:effectLst/>
              </a:rPr>
              <a:t>khiển</a:t>
            </a:r>
            <a:r>
              <a:rPr lang="en-US" dirty="0">
                <a:effectLst/>
              </a:rPr>
              <a:t> </a:t>
            </a:r>
            <a:r>
              <a:rPr lang="en-US" dirty="0" err="1">
                <a:effectLst/>
              </a:rPr>
              <a:t>phiên</a:t>
            </a:r>
            <a:r>
              <a:rPr lang="en-US" dirty="0">
                <a:effectLst/>
              </a:rPr>
              <a:t> </a:t>
            </a:r>
            <a:r>
              <a:rPr lang="en-US" dirty="0" err="1">
                <a:effectLst/>
              </a:rPr>
              <a:t>truyền</a:t>
            </a:r>
            <a:r>
              <a:rPr lang="en-US" dirty="0">
                <a:effectLst/>
              </a:rPr>
              <a:t> </a:t>
            </a:r>
            <a:r>
              <a:rPr lang="en-US" dirty="0" err="1">
                <a:effectLst/>
              </a:rPr>
              <a:t>dữ</a:t>
            </a:r>
            <a:r>
              <a:rPr lang="en-US" dirty="0">
                <a:effectLst/>
              </a:rPr>
              <a:t> </a:t>
            </a:r>
            <a:r>
              <a:rPr lang="en-US" dirty="0" err="1">
                <a:effectLst/>
              </a:rPr>
              <a:t>liệu</a:t>
            </a:r>
            <a:r>
              <a:rPr lang="en-US" dirty="0">
                <a:effectLst/>
              </a:rPr>
              <a:t>.</a:t>
            </a:r>
          </a:p>
          <a:p>
            <a:pPr>
              <a:buFont typeface="Arial" panose="020B0604020202020204" pitchFamily="34" charset="0"/>
              <a:buNone/>
            </a:pPr>
            <a:r>
              <a:rPr lang="en-US" dirty="0">
                <a:effectLst/>
              </a:rPr>
              <a:t>	</a:t>
            </a:r>
            <a:r>
              <a:rPr lang="en-US" dirty="0" err="1">
                <a:effectLst/>
              </a:rPr>
              <a:t>Lấy</a:t>
            </a:r>
            <a:r>
              <a:rPr lang="en-US" dirty="0">
                <a:effectLst/>
              </a:rPr>
              <a:t> </a:t>
            </a:r>
            <a:r>
              <a:rPr lang="en-US" dirty="0" err="1">
                <a:effectLst/>
              </a:rPr>
              <a:t>thông</a:t>
            </a:r>
            <a:r>
              <a:rPr lang="en-US" dirty="0">
                <a:effectLst/>
              </a:rPr>
              <a:t> tin modem, SIM, GPS.</a:t>
            </a:r>
          </a:p>
          <a:p>
            <a:pPr>
              <a:buFont typeface="Arial" panose="020B0604020202020204" pitchFamily="34" charset="0"/>
              <a:buNone/>
            </a:pPr>
            <a:r>
              <a:rPr lang="en-US" dirty="0">
                <a:effectLst/>
              </a:rPr>
              <a:t>	</a:t>
            </a:r>
            <a:r>
              <a:rPr lang="en-US" dirty="0" err="1">
                <a:effectLst/>
              </a:rPr>
              <a:t>Gửi</a:t>
            </a:r>
            <a:r>
              <a:rPr lang="en-US" dirty="0">
                <a:effectLst/>
              </a:rPr>
              <a:t>/</a:t>
            </a:r>
            <a:r>
              <a:rPr lang="en-US" dirty="0" err="1">
                <a:effectLst/>
              </a:rPr>
              <a:t>nhận</a:t>
            </a:r>
            <a:r>
              <a:rPr lang="en-US" dirty="0">
                <a:effectLst/>
              </a:rPr>
              <a:t> </a:t>
            </a:r>
            <a:r>
              <a:rPr lang="en-US" dirty="0" err="1">
                <a:effectLst/>
              </a:rPr>
              <a:t>dữ</a:t>
            </a:r>
            <a:r>
              <a:rPr lang="en-US" dirty="0">
                <a:effectLst/>
              </a:rPr>
              <a:t> </a:t>
            </a:r>
            <a:r>
              <a:rPr lang="en-US" dirty="0" err="1">
                <a:effectLst/>
              </a:rPr>
              <a:t>liệu</a:t>
            </a:r>
            <a:r>
              <a:rPr lang="en-US" dirty="0">
                <a:effectLst/>
              </a:rPr>
              <a:t> </a:t>
            </a:r>
            <a:r>
              <a:rPr lang="en-US" dirty="0" err="1">
                <a:effectLst/>
              </a:rPr>
              <a:t>với</a:t>
            </a:r>
            <a:r>
              <a:rPr lang="en-US" dirty="0">
                <a:effectLst/>
              </a:rPr>
              <a:t> cloud </a:t>
            </a:r>
            <a:r>
              <a:rPr lang="en-US" dirty="0" err="1">
                <a:effectLst/>
              </a:rPr>
              <a:t>hoặc</a:t>
            </a:r>
            <a:r>
              <a:rPr lang="en-US" dirty="0">
                <a:effectLst/>
              </a:rPr>
              <a:t> backend OEM.</a:t>
            </a:r>
            <a:endParaRPr lang="en-US" dirty="0"/>
          </a:p>
          <a:p>
            <a:r>
              <a:rPr lang="en-US" dirty="0" err="1"/>
              <a:t>Luồng</a:t>
            </a:r>
            <a:r>
              <a:rPr lang="en-US" dirty="0"/>
              <a:t> </a:t>
            </a:r>
            <a:r>
              <a:rPr lang="en-US" dirty="0" err="1"/>
              <a:t>hoạt</a:t>
            </a:r>
            <a:r>
              <a:rPr lang="en-US" dirty="0"/>
              <a:t> </a:t>
            </a:r>
            <a:r>
              <a:rPr lang="en-US" dirty="0" err="1"/>
              <a:t>động</a:t>
            </a:r>
            <a:r>
              <a:rPr lang="en-US" dirty="0"/>
              <a:t>: Regional App &lt;—&gt;DCM PF API&lt;—&gt;DCM PF</a:t>
            </a:r>
          </a:p>
          <a:p>
            <a:r>
              <a:rPr lang="vi-VN" b="1" dirty="0"/>
              <a:t>Mối quan hệ giữa chúng</a:t>
            </a:r>
          </a:p>
          <a:p>
            <a:pPr>
              <a:buFont typeface="+mj-lt"/>
              <a:buAutoNum type="arabicPeriod"/>
            </a:pPr>
            <a:r>
              <a:rPr lang="vi-VN" b="1" dirty="0">
                <a:effectLst/>
              </a:rPr>
              <a:t>Regional Application → DCM PF API</a:t>
            </a:r>
            <a:endParaRPr lang="vi-VN" dirty="0"/>
          </a:p>
          <a:p>
            <a:pPr marL="742950" lvl="1" indent="-285750">
              <a:buFont typeface="+mj-lt"/>
              <a:buAutoNum type="arabicPeriod"/>
            </a:pPr>
            <a:r>
              <a:rPr lang="vi-VN" dirty="0">
                <a:effectLst/>
              </a:rPr>
              <a:t>Ứng dụng khu vực không trực tiếp truy cập phần cứng hay lõi hệ thống.</a:t>
            </a:r>
            <a:endParaRPr lang="vi-VN" dirty="0"/>
          </a:p>
          <a:p>
            <a:pPr marL="742950" lvl="1" indent="-285750">
              <a:buFont typeface="+mj-lt"/>
              <a:buAutoNum type="arabicPeriod"/>
            </a:pPr>
            <a:r>
              <a:rPr lang="vi-VN" dirty="0">
                <a:effectLst/>
              </a:rPr>
              <a:t>Thay vào đó, nó gọi các hàm qua </a:t>
            </a:r>
            <a:r>
              <a:rPr lang="vi-VN" b="1" dirty="0">
                <a:effectLst/>
              </a:rPr>
              <a:t>DCM PF API</a:t>
            </a:r>
            <a:r>
              <a:rPr lang="vi-VN" dirty="0">
                <a:effectLst/>
              </a:rPr>
              <a:t> để thực hiện các tác vụ như gửi dữ liệu, kích hoạt eCall, lấy thông tin GPS, hoặc quản lý phiên kết nối.</a:t>
            </a:r>
            <a:endParaRPr lang="vi-VN" dirty="0"/>
          </a:p>
          <a:p>
            <a:pPr>
              <a:buFont typeface="+mj-lt"/>
              <a:buAutoNum type="arabicPeriod"/>
            </a:pPr>
            <a:r>
              <a:rPr lang="vi-VN" b="1" dirty="0">
                <a:effectLst/>
              </a:rPr>
              <a:t>DCM PF API → DCM PF</a:t>
            </a:r>
            <a:endParaRPr lang="vi-VN" dirty="0"/>
          </a:p>
          <a:p>
            <a:pPr marL="742950" lvl="1" indent="-285750">
              <a:buFont typeface="+mj-lt"/>
              <a:buAutoNum type="arabicPeriod"/>
            </a:pPr>
            <a:r>
              <a:rPr lang="vi-VN" dirty="0">
                <a:effectLst/>
              </a:rPr>
              <a:t>API chuyển yêu cầu từ ứng dụng thành các lệnh chuẩn hóa.</a:t>
            </a:r>
            <a:endParaRPr lang="vi-VN" dirty="0"/>
          </a:p>
          <a:p>
            <a:pPr marL="742950" lvl="1" indent="-285750">
              <a:buFont typeface="+mj-lt"/>
              <a:buAutoNum type="arabicPeriod"/>
            </a:pPr>
            <a:r>
              <a:rPr lang="vi-VN" dirty="0">
                <a:effectLst/>
              </a:rPr>
              <a:t>DCM PF tiếp nhận và thực thi, đảm bảo dữ liệu được xử lý an toàn, đúng quy trình, và tương thích với phần cứng.</a:t>
            </a:r>
            <a:endParaRPr lang="vi-VN" dirty="0"/>
          </a:p>
          <a:p>
            <a:pPr>
              <a:buFont typeface="+mj-lt"/>
              <a:buAutoNum type="arabicPeriod"/>
            </a:pPr>
            <a:r>
              <a:rPr lang="vi-VN" b="1" dirty="0">
                <a:effectLst/>
              </a:rPr>
              <a:t>DCM PF → NAD/DCE/BSW</a:t>
            </a:r>
            <a:endParaRPr lang="vi-VN" dirty="0"/>
          </a:p>
          <a:p>
            <a:pPr marL="742950" lvl="1" indent="-285750">
              <a:buFont typeface="+mj-lt"/>
              <a:buAutoNum type="arabicPeriod"/>
            </a:pPr>
            <a:r>
              <a:rPr lang="vi-VN" dirty="0">
                <a:effectLst/>
              </a:rPr>
              <a:t>Sau khi xử lý, DCM PF giao tiếp với (NAD), (DCE), và phần mềm cơ bản (BSW) để thực hiện kết nối thực tế với mạng di động hoặc cloud.</a:t>
            </a:r>
            <a:endParaRPr lang="vi-VN" dirty="0"/>
          </a:p>
          <a:p>
            <a:endParaRPr lang="en-US" dirty="0"/>
          </a:p>
        </p:txBody>
      </p:sp>
      <p:sp>
        <p:nvSpPr>
          <p:cNvPr id="4" name="Slide Number Placeholder 3"/>
          <p:cNvSpPr>
            <a:spLocks noGrp="1"/>
          </p:cNvSpPr>
          <p:nvPr>
            <p:ph type="sldNum" sz="quarter" idx="5"/>
          </p:nvPr>
        </p:nvSpPr>
        <p:spPr/>
        <p:txBody>
          <a:bodyPr/>
          <a:lstStyle/>
          <a:p>
            <a:fld id="{4B1A1E8E-CCF2-4312-8FF9-A86431FF2C30}" type="slidenum">
              <a:rPr lang="en-US" smtClean="0"/>
              <a:t>8</a:t>
            </a:fld>
            <a:endParaRPr lang="en-US"/>
          </a:p>
        </p:txBody>
      </p:sp>
    </p:spTree>
    <p:extLst>
      <p:ext uri="{BB962C8B-B14F-4D97-AF65-F5344CB8AC3E}">
        <p14:creationId xmlns:p14="http://schemas.microsoft.com/office/powerpoint/2010/main" val="980032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b="0" i="0" dirty="0">
                <a:solidFill>
                  <a:srgbClr val="333333"/>
                </a:solidFill>
                <a:effectLst/>
                <a:latin typeface="arial" panose="020B0604020202020204" pitchFamily="34" charset="0"/>
              </a:rPr>
              <a:t>CI/CD chính là quá trình làm việc liên tục và tự động hóa của phần mềm. Để quá trình kiểm thử được diễn ra liên tục thì CI CD phải được tích hợp vào trong vòng đời phát triển phần mềm. Trong những năm gần đây, CI CD đã trở thành thông lệ trong quá trình phát triển phần mềm, đây là chìa khóa kết hợp các khâu kiểm thử và phát triển phần mềm lại với nhau.Ngoài ra, CI/CD cũng trở thành thông lệ tốt nhất trong ngành công nghệ thông tin để giữ cho ứng dụng có thể được triển khai bất cứ lúc nào cũng như đẩy mã triển khai đó vào kho sản xuất khi có mã mới.</a:t>
            </a:r>
            <a:endParaRPr lang="en-US" sz="1800" b="0" i="0" dirty="0">
              <a:solidFill>
                <a:srgbClr val="333333"/>
              </a:solidFill>
              <a:effectLst/>
              <a:latin typeface="arial" panose="020B0604020202020204" pitchFamily="34" charset="0"/>
            </a:endParaRPr>
          </a:p>
          <a:p>
            <a:endParaRPr lang="en-US" sz="1800" b="0" i="0" dirty="0">
              <a:solidFill>
                <a:srgbClr val="333333"/>
              </a:solidFill>
              <a:effectLst/>
              <a:latin typeface="arial" panose="020B0604020202020204" pitchFamily="34" charset="0"/>
            </a:endParaRPr>
          </a:p>
          <a:p>
            <a:r>
              <a:rPr lang="en-US" b="1" dirty="0"/>
              <a:t>CI – Continuous Integration</a:t>
            </a:r>
          </a:p>
          <a:p>
            <a:pPr>
              <a:buFont typeface="Arial" panose="020B0604020202020204" pitchFamily="34" charset="0"/>
              <a:buChar char="•"/>
            </a:pPr>
            <a:r>
              <a:rPr lang="en-US" b="1" dirty="0" err="1">
                <a:effectLst/>
              </a:rPr>
              <a:t>Khái</a:t>
            </a:r>
            <a:r>
              <a:rPr lang="en-US" b="1" dirty="0">
                <a:effectLst/>
              </a:rPr>
              <a:t> </a:t>
            </a:r>
            <a:r>
              <a:rPr lang="en-US" b="1" dirty="0" err="1">
                <a:effectLst/>
              </a:rPr>
              <a:t>niệm</a:t>
            </a:r>
            <a:r>
              <a:rPr lang="en-US" b="1" dirty="0">
                <a:effectLst/>
              </a:rPr>
              <a:t>:</a:t>
            </a:r>
            <a:r>
              <a:rPr lang="en-US" dirty="0">
                <a:effectLst/>
              </a:rPr>
              <a:t> CI </a:t>
            </a:r>
            <a:r>
              <a:rPr lang="en-US" dirty="0" err="1">
                <a:effectLst/>
              </a:rPr>
              <a:t>là</a:t>
            </a:r>
            <a:r>
              <a:rPr lang="en-US" dirty="0">
                <a:effectLst/>
              </a:rPr>
              <a:t> </a:t>
            </a:r>
            <a:r>
              <a:rPr lang="en-US" dirty="0" err="1">
                <a:effectLst/>
              </a:rPr>
              <a:t>quá</a:t>
            </a:r>
            <a:r>
              <a:rPr lang="en-US" dirty="0">
                <a:effectLst/>
              </a:rPr>
              <a:t> </a:t>
            </a:r>
            <a:r>
              <a:rPr lang="en-US" dirty="0" err="1">
                <a:effectLst/>
              </a:rPr>
              <a:t>trình</a:t>
            </a:r>
            <a:r>
              <a:rPr lang="en-US" dirty="0">
                <a:effectLst/>
              </a:rPr>
              <a:t> </a:t>
            </a:r>
            <a:r>
              <a:rPr lang="en-US" b="1" dirty="0" err="1">
                <a:effectLst/>
              </a:rPr>
              <a:t>tích</a:t>
            </a:r>
            <a:r>
              <a:rPr lang="en-US" b="1" dirty="0">
                <a:effectLst/>
              </a:rPr>
              <a:t> </a:t>
            </a:r>
            <a:r>
              <a:rPr lang="en-US" b="1" dirty="0" err="1">
                <a:effectLst/>
              </a:rPr>
              <a:t>hợp</a:t>
            </a:r>
            <a:r>
              <a:rPr lang="en-US" b="1" dirty="0">
                <a:effectLst/>
              </a:rPr>
              <a:t> </a:t>
            </a:r>
            <a:r>
              <a:rPr lang="en-US" b="1" dirty="0" err="1">
                <a:effectLst/>
              </a:rPr>
              <a:t>liên</a:t>
            </a:r>
            <a:r>
              <a:rPr lang="en-US" b="1" dirty="0">
                <a:effectLst/>
              </a:rPr>
              <a:t> </a:t>
            </a:r>
            <a:r>
              <a:rPr lang="en-US" b="1" dirty="0" err="1">
                <a:effectLst/>
              </a:rPr>
              <a:t>tục</a:t>
            </a:r>
            <a:r>
              <a:rPr lang="en-US" dirty="0">
                <a:effectLst/>
              </a:rPr>
              <a:t> code </a:t>
            </a:r>
            <a:r>
              <a:rPr lang="en-US" dirty="0" err="1">
                <a:effectLst/>
              </a:rPr>
              <a:t>từ</a:t>
            </a:r>
            <a:r>
              <a:rPr lang="en-US" dirty="0">
                <a:effectLst/>
              </a:rPr>
              <a:t> </a:t>
            </a:r>
            <a:r>
              <a:rPr lang="en-US" dirty="0" err="1">
                <a:effectLst/>
              </a:rPr>
              <a:t>nhiều</a:t>
            </a:r>
            <a:r>
              <a:rPr lang="en-US" dirty="0">
                <a:effectLst/>
              </a:rPr>
              <a:t> DEV </a:t>
            </a:r>
            <a:r>
              <a:rPr lang="en-US" dirty="0" err="1">
                <a:effectLst/>
              </a:rPr>
              <a:t>vào</a:t>
            </a:r>
            <a:r>
              <a:rPr lang="en-US" dirty="0">
                <a:effectLst/>
              </a:rPr>
              <a:t> </a:t>
            </a:r>
            <a:r>
              <a:rPr lang="en-US" dirty="0" err="1">
                <a:effectLst/>
              </a:rPr>
              <a:t>kho</a:t>
            </a:r>
            <a:r>
              <a:rPr lang="en-US" dirty="0">
                <a:effectLst/>
              </a:rPr>
              <a:t> </a:t>
            </a:r>
            <a:r>
              <a:rPr lang="en-US" dirty="0" err="1">
                <a:effectLst/>
              </a:rPr>
              <a:t>chung</a:t>
            </a:r>
            <a:r>
              <a:rPr lang="en-US" dirty="0">
                <a:effectLst/>
              </a:rPr>
              <a:t>.</a:t>
            </a:r>
            <a:endParaRPr lang="en-US" dirty="0"/>
          </a:p>
          <a:p>
            <a:pPr>
              <a:buFont typeface="Arial" panose="020B0604020202020204" pitchFamily="34" charset="0"/>
              <a:buChar char="•"/>
            </a:pPr>
            <a:r>
              <a:rPr lang="en-US" b="1" dirty="0" err="1">
                <a:effectLst/>
              </a:rPr>
              <a:t>Cách</a:t>
            </a:r>
            <a:r>
              <a:rPr lang="en-US" b="1" dirty="0">
                <a:effectLst/>
              </a:rPr>
              <a:t> </a:t>
            </a:r>
            <a:r>
              <a:rPr lang="en-US" b="1" dirty="0" err="1">
                <a:effectLst/>
              </a:rPr>
              <a:t>hoạt</a:t>
            </a:r>
            <a:r>
              <a:rPr lang="en-US" b="1" dirty="0">
                <a:effectLst/>
              </a:rPr>
              <a:t> </a:t>
            </a:r>
            <a:r>
              <a:rPr lang="en-US" b="1" dirty="0" err="1">
                <a:effectLst/>
              </a:rPr>
              <a:t>động</a:t>
            </a:r>
            <a:r>
              <a:rPr lang="en-US" b="1" dirty="0">
                <a:effectLst/>
              </a:rPr>
              <a:t>:</a:t>
            </a:r>
            <a:r>
              <a:rPr lang="en-US" dirty="0">
                <a:effectLst/>
              </a:rPr>
              <a:t> </a:t>
            </a:r>
            <a:r>
              <a:rPr lang="en-US" dirty="0" err="1">
                <a:effectLst/>
              </a:rPr>
              <a:t>Mỗi</a:t>
            </a:r>
            <a:r>
              <a:rPr lang="en-US" dirty="0">
                <a:effectLst/>
              </a:rPr>
              <a:t> </a:t>
            </a:r>
            <a:r>
              <a:rPr lang="en-US" dirty="0" err="1">
                <a:effectLst/>
              </a:rPr>
              <a:t>lần</a:t>
            </a:r>
            <a:r>
              <a:rPr lang="en-US" dirty="0">
                <a:effectLst/>
              </a:rPr>
              <a:t> DEV commit code, </a:t>
            </a:r>
            <a:r>
              <a:rPr lang="en-US" dirty="0" err="1">
                <a:effectLst/>
              </a:rPr>
              <a:t>hệ</a:t>
            </a:r>
            <a:r>
              <a:rPr lang="en-US" dirty="0">
                <a:effectLst/>
              </a:rPr>
              <a:t> </a:t>
            </a:r>
            <a:r>
              <a:rPr lang="en-US" dirty="0" err="1">
                <a:effectLst/>
              </a:rPr>
              <a:t>thống</a:t>
            </a:r>
            <a:r>
              <a:rPr lang="en-US" dirty="0">
                <a:effectLst/>
              </a:rPr>
              <a:t> </a:t>
            </a:r>
            <a:r>
              <a:rPr lang="en-US" dirty="0" err="1">
                <a:effectLst/>
              </a:rPr>
              <a:t>sẽ</a:t>
            </a:r>
            <a:r>
              <a:rPr lang="en-US" dirty="0">
                <a:effectLst/>
              </a:rPr>
              <a:t> </a:t>
            </a:r>
            <a:r>
              <a:rPr lang="en-US" dirty="0" err="1">
                <a:effectLst/>
              </a:rPr>
              <a:t>tự</a:t>
            </a:r>
            <a:r>
              <a:rPr lang="en-US" dirty="0">
                <a:effectLst/>
              </a:rPr>
              <a:t> </a:t>
            </a:r>
            <a:r>
              <a:rPr lang="en-US" dirty="0" err="1">
                <a:effectLst/>
              </a:rPr>
              <a:t>động</a:t>
            </a:r>
            <a:r>
              <a:rPr lang="en-US" dirty="0">
                <a:effectLst/>
              </a:rPr>
              <a:t>:</a:t>
            </a:r>
            <a:endParaRPr lang="en-US" dirty="0"/>
          </a:p>
          <a:p>
            <a:pPr marL="742950" lvl="1" indent="-285750">
              <a:buFont typeface="Arial" panose="020B0604020202020204" pitchFamily="34" charset="0"/>
              <a:buChar char="•"/>
            </a:pPr>
            <a:r>
              <a:rPr lang="en-US" dirty="0">
                <a:effectLst/>
              </a:rPr>
              <a:t>Build </a:t>
            </a:r>
            <a:r>
              <a:rPr lang="en-US" dirty="0" err="1">
                <a:effectLst/>
              </a:rPr>
              <a:t>lại</a:t>
            </a:r>
            <a:r>
              <a:rPr lang="en-US" dirty="0">
                <a:effectLst/>
              </a:rPr>
              <a:t> </a:t>
            </a:r>
            <a:r>
              <a:rPr lang="en-US" dirty="0" err="1">
                <a:effectLst/>
              </a:rPr>
              <a:t>ứng</a:t>
            </a:r>
            <a:r>
              <a:rPr lang="en-US" dirty="0">
                <a:effectLst/>
              </a:rPr>
              <a:t> </a:t>
            </a:r>
            <a:r>
              <a:rPr lang="en-US" dirty="0" err="1">
                <a:effectLst/>
              </a:rPr>
              <a:t>dụng</a:t>
            </a:r>
            <a:r>
              <a:rPr lang="en-US" dirty="0">
                <a:effectLst/>
              </a:rPr>
              <a:t>.</a:t>
            </a:r>
            <a:endParaRPr lang="en-US" dirty="0"/>
          </a:p>
          <a:p>
            <a:pPr marL="742950" lvl="1" indent="-285750">
              <a:buFont typeface="Arial" panose="020B0604020202020204" pitchFamily="34" charset="0"/>
              <a:buChar char="•"/>
            </a:pPr>
            <a:r>
              <a:rPr lang="en-US" dirty="0" err="1">
                <a:effectLst/>
              </a:rPr>
              <a:t>Chạy</a:t>
            </a:r>
            <a:r>
              <a:rPr lang="en-US" dirty="0">
                <a:effectLst/>
              </a:rPr>
              <a:t> </a:t>
            </a:r>
            <a:r>
              <a:rPr lang="en-US" dirty="0" err="1">
                <a:effectLst/>
              </a:rPr>
              <a:t>các</a:t>
            </a:r>
            <a:r>
              <a:rPr lang="en-US" dirty="0">
                <a:effectLst/>
              </a:rPr>
              <a:t> </a:t>
            </a:r>
            <a:r>
              <a:rPr lang="en-US" dirty="0" err="1">
                <a:effectLst/>
              </a:rPr>
              <a:t>bộ</a:t>
            </a:r>
            <a:r>
              <a:rPr lang="en-US" dirty="0">
                <a:effectLst/>
              </a:rPr>
              <a:t> </a:t>
            </a:r>
            <a:r>
              <a:rPr lang="en-US" dirty="0" err="1">
                <a:effectLst/>
              </a:rPr>
              <a:t>kiểm</a:t>
            </a:r>
            <a:r>
              <a:rPr lang="en-US" dirty="0">
                <a:effectLst/>
              </a:rPr>
              <a:t> </a:t>
            </a:r>
            <a:r>
              <a:rPr lang="en-US" dirty="0" err="1">
                <a:effectLst/>
              </a:rPr>
              <a:t>thử</a:t>
            </a:r>
            <a:r>
              <a:rPr lang="en-US" dirty="0">
                <a:effectLst/>
              </a:rPr>
              <a:t> (unit test, integration test).</a:t>
            </a:r>
            <a:endParaRPr lang="en-US" dirty="0"/>
          </a:p>
          <a:p>
            <a:pPr>
              <a:buFont typeface="Arial" panose="020B0604020202020204" pitchFamily="34" charset="0"/>
              <a:buChar char="•"/>
            </a:pPr>
            <a:r>
              <a:rPr lang="en-US" b="1" dirty="0" err="1">
                <a:effectLst/>
              </a:rPr>
              <a:t>Mục</a:t>
            </a:r>
            <a:r>
              <a:rPr lang="en-US" b="1" dirty="0">
                <a:effectLst/>
              </a:rPr>
              <a:t> </a:t>
            </a:r>
            <a:r>
              <a:rPr lang="en-US" b="1" dirty="0" err="1">
                <a:effectLst/>
              </a:rPr>
              <a:t>tiêu</a:t>
            </a:r>
            <a:r>
              <a:rPr lang="en-US" b="1" dirty="0">
                <a:effectLst/>
              </a:rPr>
              <a:t>:</a:t>
            </a:r>
            <a:r>
              <a:rPr lang="en-US" dirty="0">
                <a:effectLst/>
              </a:rPr>
              <a:t> </a:t>
            </a:r>
            <a:r>
              <a:rPr lang="en-US" dirty="0" err="1">
                <a:effectLst/>
              </a:rPr>
              <a:t>Phát</a:t>
            </a:r>
            <a:r>
              <a:rPr lang="en-US" dirty="0">
                <a:effectLst/>
              </a:rPr>
              <a:t> </a:t>
            </a:r>
            <a:r>
              <a:rPr lang="en-US" dirty="0" err="1">
                <a:effectLst/>
              </a:rPr>
              <a:t>hiện</a:t>
            </a:r>
            <a:r>
              <a:rPr lang="en-US" dirty="0">
                <a:effectLst/>
              </a:rPr>
              <a:t> </a:t>
            </a:r>
            <a:r>
              <a:rPr lang="en-US" dirty="0" err="1">
                <a:effectLst/>
              </a:rPr>
              <a:t>lỗi</a:t>
            </a:r>
            <a:r>
              <a:rPr lang="en-US" dirty="0">
                <a:effectLst/>
              </a:rPr>
              <a:t> </a:t>
            </a:r>
            <a:r>
              <a:rPr lang="en-US" dirty="0" err="1">
                <a:effectLst/>
              </a:rPr>
              <a:t>sớm</a:t>
            </a:r>
            <a:r>
              <a:rPr lang="en-US" dirty="0">
                <a:effectLst/>
              </a:rPr>
              <a:t>, </a:t>
            </a:r>
            <a:r>
              <a:rPr lang="en-US" dirty="0" err="1">
                <a:effectLst/>
              </a:rPr>
              <a:t>đảm</a:t>
            </a:r>
            <a:r>
              <a:rPr lang="en-US" dirty="0">
                <a:effectLst/>
              </a:rPr>
              <a:t> </a:t>
            </a:r>
            <a:r>
              <a:rPr lang="en-US" dirty="0" err="1">
                <a:effectLst/>
              </a:rPr>
              <a:t>bảo</a:t>
            </a:r>
            <a:r>
              <a:rPr lang="en-US" dirty="0">
                <a:effectLst/>
              </a:rPr>
              <a:t> code </a:t>
            </a:r>
            <a:r>
              <a:rPr lang="en-US" dirty="0" err="1">
                <a:effectLst/>
              </a:rPr>
              <a:t>mới</a:t>
            </a:r>
            <a:r>
              <a:rPr lang="en-US" dirty="0">
                <a:effectLst/>
              </a:rPr>
              <a:t> </a:t>
            </a:r>
            <a:r>
              <a:rPr lang="en-US" dirty="0" err="1">
                <a:effectLst/>
              </a:rPr>
              <a:t>không</a:t>
            </a:r>
            <a:r>
              <a:rPr lang="en-US" dirty="0">
                <a:effectLst/>
              </a:rPr>
              <a:t> </a:t>
            </a:r>
            <a:r>
              <a:rPr lang="en-US" dirty="0" err="1">
                <a:effectLst/>
              </a:rPr>
              <a:t>phá</a:t>
            </a:r>
            <a:r>
              <a:rPr lang="en-US" dirty="0">
                <a:effectLst/>
              </a:rPr>
              <a:t> </a:t>
            </a:r>
            <a:r>
              <a:rPr lang="en-US" dirty="0" err="1">
                <a:effectLst/>
              </a:rPr>
              <a:t>vỡ</a:t>
            </a:r>
            <a:r>
              <a:rPr lang="en-US" dirty="0">
                <a:effectLst/>
              </a:rPr>
              <a:t> </a:t>
            </a:r>
            <a:r>
              <a:rPr lang="en-US" dirty="0" err="1">
                <a:effectLst/>
              </a:rPr>
              <a:t>hệ</a:t>
            </a:r>
            <a:r>
              <a:rPr lang="en-US" dirty="0">
                <a:effectLst/>
              </a:rPr>
              <a:t> </a:t>
            </a:r>
            <a:r>
              <a:rPr lang="en-US" dirty="0" err="1">
                <a:effectLst/>
              </a:rPr>
              <a:t>thống</a:t>
            </a:r>
            <a:r>
              <a:rPr lang="en-US" dirty="0">
                <a:effectLst/>
              </a:rPr>
              <a:t> </a:t>
            </a:r>
            <a:r>
              <a:rPr lang="en-US" dirty="0" err="1">
                <a:effectLst/>
              </a:rPr>
              <a:t>hiện</a:t>
            </a:r>
            <a:r>
              <a:rPr lang="en-US" dirty="0">
                <a:effectLst/>
              </a:rPr>
              <a:t> </a:t>
            </a:r>
            <a:r>
              <a:rPr lang="en-US" dirty="0" err="1">
                <a:effectLst/>
              </a:rPr>
              <a:t>tại</a:t>
            </a:r>
            <a:r>
              <a:rPr lang="en-US" dirty="0">
                <a:effectLst/>
              </a:rPr>
              <a:t>.</a:t>
            </a:r>
            <a:endParaRPr lang="en-US" dirty="0"/>
          </a:p>
          <a:p>
            <a:endParaRPr lang="en-US" dirty="0"/>
          </a:p>
          <a:p>
            <a:r>
              <a:rPr lang="vi-VN" b="1" dirty="0"/>
              <a:t>CD – Continuous Delivery/Deployment</a:t>
            </a:r>
          </a:p>
          <a:p>
            <a:pPr>
              <a:buFont typeface="Arial" panose="020B0604020202020204" pitchFamily="34" charset="0"/>
              <a:buChar char="•"/>
            </a:pPr>
            <a:r>
              <a:rPr lang="vi-VN" b="1" dirty="0">
                <a:effectLst/>
              </a:rPr>
              <a:t>Khái niệm:</a:t>
            </a:r>
            <a:r>
              <a:rPr lang="vi-VN" dirty="0">
                <a:effectLst/>
              </a:rPr>
              <a:t> CD là quá trình </a:t>
            </a:r>
            <a:r>
              <a:rPr lang="vi-VN" b="1" dirty="0">
                <a:effectLst/>
              </a:rPr>
              <a:t>triển khai liên tục</a:t>
            </a:r>
            <a:r>
              <a:rPr lang="vi-VN" dirty="0">
                <a:effectLst/>
              </a:rPr>
              <a:t> code đã qua CI lên môi trường thực thi.</a:t>
            </a:r>
            <a:endParaRPr lang="vi-VN" dirty="0"/>
          </a:p>
          <a:p>
            <a:pPr>
              <a:buFont typeface="Arial" panose="020B0604020202020204" pitchFamily="34" charset="0"/>
              <a:buChar char="•"/>
            </a:pPr>
            <a:r>
              <a:rPr lang="vi-VN" b="1" dirty="0">
                <a:effectLst/>
              </a:rPr>
              <a:t>Có 2 mức độ:</a:t>
            </a:r>
            <a:endParaRPr lang="vi-VN" dirty="0"/>
          </a:p>
          <a:p>
            <a:pPr marL="742950" lvl="1" indent="-285750">
              <a:buFont typeface="Arial" panose="020B0604020202020204" pitchFamily="34" charset="0"/>
              <a:buChar char="•"/>
            </a:pPr>
            <a:r>
              <a:rPr lang="vi-VN" b="1" dirty="0">
                <a:effectLst/>
              </a:rPr>
              <a:t>Continuous Delivery:</a:t>
            </a:r>
            <a:r>
              <a:rPr lang="vi-VN" dirty="0">
                <a:effectLst/>
              </a:rPr>
              <a:t> Code luôn sẵn sàng để triển khai lên production, nhưng cần </a:t>
            </a:r>
            <a:r>
              <a:rPr lang="vi-VN" b="1" dirty="0">
                <a:effectLst/>
              </a:rPr>
              <a:t>phê duyệt thủ công</a:t>
            </a:r>
            <a:r>
              <a:rPr lang="vi-VN" dirty="0">
                <a:effectLst/>
              </a:rPr>
              <a:t> trước khi release.</a:t>
            </a:r>
            <a:endParaRPr lang="vi-VN" dirty="0"/>
          </a:p>
          <a:p>
            <a:pPr marL="742950" lvl="1" indent="-285750">
              <a:buFont typeface="Arial" panose="020B0604020202020204" pitchFamily="34" charset="0"/>
              <a:buChar char="•"/>
            </a:pPr>
            <a:r>
              <a:rPr lang="vi-VN" b="1" dirty="0">
                <a:effectLst/>
              </a:rPr>
              <a:t>Continuous Deployment:</a:t>
            </a:r>
            <a:r>
              <a:rPr lang="vi-VN" dirty="0">
                <a:effectLst/>
              </a:rPr>
              <a:t> Code được triển khai </a:t>
            </a:r>
            <a:r>
              <a:rPr lang="vi-VN" b="1" dirty="0">
                <a:effectLst/>
              </a:rPr>
              <a:t>tự động</a:t>
            </a:r>
            <a:r>
              <a:rPr lang="vi-VN" dirty="0">
                <a:effectLst/>
              </a:rPr>
              <a:t> lên production ngay khi vượt qua kiểm thử, không cần thao tác thủ công.</a:t>
            </a:r>
            <a:endParaRPr lang="vi-VN" dirty="0"/>
          </a:p>
          <a:p>
            <a:pPr>
              <a:buFont typeface="Arial" panose="020B0604020202020204" pitchFamily="34" charset="0"/>
              <a:buChar char="•"/>
            </a:pPr>
            <a:r>
              <a:rPr lang="vi-VN" b="1" dirty="0">
                <a:effectLst/>
              </a:rPr>
              <a:t>Mục tiêu:</a:t>
            </a:r>
            <a:r>
              <a:rPr lang="vi-VN" dirty="0">
                <a:effectLst/>
              </a:rPr>
              <a:t> Rút ngắn thời gian đưa tính năng mới đến tay người dùng, giảm rủi ro nhờ triển khai nhỏ và thường xuyên.</a:t>
            </a:r>
            <a:endParaRPr lang="vi-VN" dirty="0"/>
          </a:p>
          <a:p>
            <a:endParaRPr lang="en-US" dirty="0"/>
          </a:p>
        </p:txBody>
      </p:sp>
      <p:sp>
        <p:nvSpPr>
          <p:cNvPr id="4" name="Slide Number Placeholder 3"/>
          <p:cNvSpPr>
            <a:spLocks noGrp="1"/>
          </p:cNvSpPr>
          <p:nvPr>
            <p:ph type="sldNum" sz="quarter" idx="5"/>
          </p:nvPr>
        </p:nvSpPr>
        <p:spPr/>
        <p:txBody>
          <a:bodyPr/>
          <a:lstStyle/>
          <a:p>
            <a:fld id="{4B1A1E8E-CCF2-4312-8FF9-A86431FF2C30}" type="slidenum">
              <a:rPr lang="en-US" smtClean="0"/>
              <a:t>9</a:t>
            </a:fld>
            <a:endParaRPr lang="en-US"/>
          </a:p>
        </p:txBody>
      </p:sp>
    </p:spTree>
    <p:extLst>
      <p:ext uri="{BB962C8B-B14F-4D97-AF65-F5344CB8AC3E}">
        <p14:creationId xmlns:p14="http://schemas.microsoft.com/office/powerpoint/2010/main" val="3601801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b="1" i="0" dirty="0">
                <a:solidFill>
                  <a:srgbClr val="333333"/>
                </a:solidFill>
                <a:effectLst/>
                <a:latin typeface="Arial" panose="020B0604020202020204" pitchFamily="34" charset="0"/>
              </a:rPr>
              <a:t>Jenkins</a:t>
            </a:r>
            <a:r>
              <a:rPr lang="vi-VN" b="0" i="0" dirty="0">
                <a:solidFill>
                  <a:srgbClr val="333333"/>
                </a:solidFill>
                <a:effectLst/>
                <a:latin typeface="Arial" panose="020B0604020202020204" pitchFamily="34" charset="0"/>
              </a:rPr>
              <a:t> là một công cụ tự động hóa mã nguồn mở, chuyên dùng để thực hiện </a:t>
            </a:r>
            <a:r>
              <a:rPr lang="en-US" b="0" i="0" dirty="0">
                <a:solidFill>
                  <a:srgbClr val="333333"/>
                </a:solidFill>
                <a:effectLst/>
                <a:latin typeface="Arial" panose="020B0604020202020204" pitchFamily="34" charset="0"/>
              </a:rPr>
              <a:t>CI/CD </a:t>
            </a:r>
            <a:r>
              <a:rPr lang="vi-VN" b="0" i="0" dirty="0">
                <a:solidFill>
                  <a:srgbClr val="333333"/>
                </a:solidFill>
                <a:effectLst/>
                <a:latin typeface="Arial" panose="020B0604020202020204" pitchFamily="34" charset="0"/>
              </a:rPr>
              <a:t>trong quy trình phát triển phần mềm.</a:t>
            </a:r>
          </a:p>
          <a:p>
            <a:pPr algn="just"/>
            <a:r>
              <a:rPr lang="vi-VN" b="0" i="0" dirty="0">
                <a:solidFill>
                  <a:srgbClr val="333333"/>
                </a:solidFill>
                <a:effectLst/>
                <a:latin typeface="Arial" panose="020B0604020202020204" pitchFamily="34" charset="0"/>
              </a:rPr>
              <a:t>Jenkins giúp các nhóm phát triển tự động hóa các bước như build, </a:t>
            </a:r>
            <a:r>
              <a:rPr lang="en-US" b="0" i="0" dirty="0">
                <a:solidFill>
                  <a:srgbClr val="333333"/>
                </a:solidFill>
                <a:effectLst/>
                <a:latin typeface="Arial" panose="020B0604020202020204" pitchFamily="34" charset="0"/>
              </a:rPr>
              <a:t>test </a:t>
            </a:r>
            <a:r>
              <a:rPr lang="vi-VN" b="0" i="0" dirty="0">
                <a:solidFill>
                  <a:srgbClr val="333333"/>
                </a:solidFill>
                <a:effectLst/>
                <a:latin typeface="Arial" panose="020B0604020202020204" pitchFamily="34" charset="0"/>
              </a:rPr>
              <a:t>, đóng gói và triển khai phần mềm, từ đó giảm thiểu lỗi thủ công, tăng tốc độ release và đảm bảo chất lượng sản phẩm</a:t>
            </a:r>
          </a:p>
          <a:p>
            <a:pPr algn="just"/>
            <a:r>
              <a:rPr lang="vi-VN" b="1" i="0" dirty="0">
                <a:solidFill>
                  <a:srgbClr val="000000"/>
                </a:solidFill>
                <a:effectLst/>
                <a:latin typeface="Arial" panose="020B0604020202020204" pitchFamily="34" charset="0"/>
              </a:rPr>
              <a:t> Các tính năng chính của Jenkins</a:t>
            </a:r>
          </a:p>
          <a:p>
            <a:pPr algn="just">
              <a:buFont typeface="Arial" panose="020B0604020202020204" pitchFamily="34" charset="0"/>
              <a:buChar char="•"/>
            </a:pPr>
            <a:r>
              <a:rPr lang="vi-VN" b="1" i="0" dirty="0">
                <a:solidFill>
                  <a:srgbClr val="333333"/>
                </a:solidFill>
                <a:effectLst/>
                <a:latin typeface="Arial" panose="020B0604020202020204" pitchFamily="34" charset="0"/>
              </a:rPr>
              <a:t>Tích hợp liên tục (CI): </a:t>
            </a:r>
            <a:r>
              <a:rPr lang="vi-VN" b="0" i="0" dirty="0">
                <a:solidFill>
                  <a:srgbClr val="333333"/>
                </a:solidFill>
                <a:effectLst/>
                <a:latin typeface="Arial" panose="020B0604020202020204" pitchFamily="34" charset="0"/>
              </a:rPr>
              <a:t>Jenkins tự động kiểm tra, build và test mỗi khi có thay đổi, giúp phát hiện lỗi sớm và đảm bảo chất lượng phần mềm.</a:t>
            </a:r>
          </a:p>
          <a:p>
            <a:pPr algn="just">
              <a:buFont typeface="Arial" panose="020B0604020202020204" pitchFamily="34" charset="0"/>
              <a:buChar char="•"/>
            </a:pPr>
            <a:r>
              <a:rPr lang="vi-VN" b="1" i="0" dirty="0">
                <a:solidFill>
                  <a:srgbClr val="333333"/>
                </a:solidFill>
                <a:effectLst/>
                <a:latin typeface="Arial" panose="020B0604020202020204" pitchFamily="34" charset="0"/>
              </a:rPr>
              <a:t>Triển khai liên tục (CD): </a:t>
            </a:r>
            <a:r>
              <a:rPr lang="vi-VN" b="0" i="0" dirty="0">
                <a:solidFill>
                  <a:srgbClr val="333333"/>
                </a:solidFill>
                <a:effectLst/>
                <a:latin typeface="Arial" panose="020B0604020202020204" pitchFamily="34" charset="0"/>
              </a:rPr>
              <a:t>Jenkins tự động hóa quy trình đóng gói và triển khai phần mềm lên các môi trường khác nhau, giảm thiểu rủi ro khi phát hành sản phẩm mới.</a:t>
            </a:r>
          </a:p>
          <a:p>
            <a:pPr algn="just">
              <a:buFont typeface="Arial" panose="020B0604020202020204" pitchFamily="34" charset="0"/>
              <a:buChar char="•"/>
            </a:pPr>
            <a:r>
              <a:rPr lang="vi-VN" b="1" i="0" dirty="0">
                <a:solidFill>
                  <a:srgbClr val="333333"/>
                </a:solidFill>
                <a:effectLst/>
                <a:latin typeface="Arial" panose="020B0604020202020204" pitchFamily="34" charset="0"/>
              </a:rPr>
              <a:t>Quản lý pipeline bằng code:</a:t>
            </a:r>
            <a:r>
              <a:rPr lang="vi-VN" b="0" i="0" dirty="0">
                <a:solidFill>
                  <a:srgbClr val="333333"/>
                </a:solidFill>
                <a:effectLst/>
                <a:latin typeface="Arial" panose="020B0604020202020204" pitchFamily="34" charset="0"/>
              </a:rPr>
              <a:t> Jenkins Pipeline cho phép định nghĩa quy trình CI/CD dưới dạng mã (Jenkinsfile), giúp kiểm soát, mở rộng và tái sử dụng quy trình dễ dàng</a:t>
            </a:r>
          </a:p>
        </p:txBody>
      </p:sp>
      <p:sp>
        <p:nvSpPr>
          <p:cNvPr id="4" name="Slide Number Placeholder 3"/>
          <p:cNvSpPr>
            <a:spLocks noGrp="1"/>
          </p:cNvSpPr>
          <p:nvPr>
            <p:ph type="sldNum" sz="quarter" idx="5"/>
          </p:nvPr>
        </p:nvSpPr>
        <p:spPr/>
        <p:txBody>
          <a:bodyPr/>
          <a:lstStyle/>
          <a:p>
            <a:fld id="{4B1A1E8E-CCF2-4312-8FF9-A86431FF2C30}" type="slidenum">
              <a:rPr lang="en-US" smtClean="0"/>
              <a:t>10</a:t>
            </a:fld>
            <a:endParaRPr lang="en-US"/>
          </a:p>
        </p:txBody>
      </p:sp>
    </p:spTree>
    <p:extLst>
      <p:ext uri="{BB962C8B-B14F-4D97-AF65-F5344CB8AC3E}">
        <p14:creationId xmlns:p14="http://schemas.microsoft.com/office/powerpoint/2010/main" val="1213405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1A1E8E-CCF2-4312-8FF9-A86431FF2C30}" type="slidenum">
              <a:rPr lang="en-US" smtClean="0"/>
              <a:t>12</a:t>
            </a:fld>
            <a:endParaRPr lang="en-US"/>
          </a:p>
        </p:txBody>
      </p:sp>
    </p:spTree>
    <p:extLst>
      <p:ext uri="{BB962C8B-B14F-4D97-AF65-F5344CB8AC3E}">
        <p14:creationId xmlns:p14="http://schemas.microsoft.com/office/powerpoint/2010/main" val="4051755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Luồng</a:t>
            </a:r>
            <a:r>
              <a:rPr lang="en-US" b="1" dirty="0"/>
              <a:t> </a:t>
            </a:r>
            <a:r>
              <a:rPr lang="en-US" b="1" dirty="0" err="1"/>
              <a:t>hoạt</a:t>
            </a:r>
            <a:r>
              <a:rPr lang="en-US" b="1" dirty="0"/>
              <a:t> </a:t>
            </a:r>
            <a:r>
              <a:rPr lang="en-US" b="1" dirty="0" err="1"/>
              <a:t>động</a:t>
            </a:r>
            <a:r>
              <a:rPr lang="en-US" b="1" dirty="0"/>
              <a:t>:</a:t>
            </a:r>
          </a:p>
          <a:p>
            <a:r>
              <a:rPr lang="vi-VN" b="0" dirty="0"/>
              <a:t>1. Khối Kích hoạt &amp; Khởi tạo (Trigger &amp; Initialization Phase)</a:t>
            </a:r>
          </a:p>
          <a:p>
            <a:r>
              <a:rPr lang="vi-VN" b="0" dirty="0"/>
              <a:t>​Khi tín hiệu Airbag Signal Detected (từ hộp điều khiển túi khí - ACU qua mạng CAN Bus) được gửi đến DCM, hệ thống thực hiện song song 3 tác vụ với độ ưu tiên cao nhất:</a:t>
            </a:r>
          </a:p>
          <a:p>
            <a:r>
              <a:rPr lang="vi-VN" b="0" dirty="0"/>
              <a:t>​* Phát âm thanh Beep 8</a:t>
            </a:r>
          </a:p>
          <a:p>
            <a:r>
              <a:rPr lang="vi-VN" b="0" dirty="0"/>
              <a:t>​</a:t>
            </a:r>
            <a:r>
              <a:rPr lang="en-US" b="0" dirty="0"/>
              <a:t>* </a:t>
            </a:r>
            <a:r>
              <a:rPr lang="vi-VN" b="0" dirty="0"/>
              <a:t>Kích hoạt đèn LED Xanh nhấp nháy theo Pattern C</a:t>
            </a:r>
          </a:p>
          <a:p>
            <a:r>
              <a:rPr lang="en-US" b="0" dirty="0"/>
              <a:t>* </a:t>
            </a:r>
            <a:r>
              <a:rPr lang="vi-VN" b="0" dirty="0"/>
              <a:t>​Xử lý Voice Prompt ban đầu: Phát chuỗi thoại ACN-1 và ACN-2 (thường là: "Đang kết nối cuộc gọi khẩn cấp, vui lòng chờ").</a:t>
            </a:r>
          </a:p>
          <a:p>
            <a:r>
              <a:rPr lang="vi-VN" b="0" dirty="0"/>
              <a:t>​</a:t>
            </a:r>
            <a:endParaRPr lang="en-US" b="0" dirty="0"/>
          </a:p>
          <a:p>
            <a:r>
              <a:rPr lang="en-US" b="0" dirty="0"/>
              <a:t>*</a:t>
            </a:r>
            <a:r>
              <a:rPr lang="vi-VN" b="0" dirty="0"/>
              <a:t>Đóng gói MSD (Minimum Set of Data): Khối Prepare Emergency Notification Data sẽ đóng gói các byte dữ liệu theo tiêu chuẩn eCall . Dữ liệu bao gồm:</a:t>
            </a:r>
          </a:p>
          <a:p>
            <a:r>
              <a:rPr lang="vi-VN" b="0" dirty="0"/>
              <a:t>​Vị trí hiện tại (Kinh độ, Vĩ độ) từ chip GNSS/GPS.</a:t>
            </a:r>
          </a:p>
          <a:p>
            <a:r>
              <a:rPr lang="vi-VN" b="0" dirty="0"/>
              <a:t>​Thời gian xảy ra tai nạn (Timestamp).</a:t>
            </a:r>
          </a:p>
          <a:p>
            <a:r>
              <a:rPr lang="vi-VN" b="0" dirty="0"/>
              <a:t>​Hướng di chuyển (Heading angle).</a:t>
            </a:r>
          </a:p>
          <a:p>
            <a:r>
              <a:rPr lang="vi-VN" b="0" dirty="0"/>
              <a:t>​Mã nhận diện xe (VIN - Vehicle Identification Number).</a:t>
            </a:r>
          </a:p>
          <a:p>
            <a:r>
              <a:rPr lang="vi-VN" b="0" dirty="0"/>
              <a:t>​Trạng thái xe (Mức độ va chạm, số lượng dây an toàn được cài...).</a:t>
            </a:r>
            <a:endParaRPr lang="en-US" b="0" dirty="0"/>
          </a:p>
          <a:p>
            <a:endParaRPr lang="vi-VN" b="0" dirty="0"/>
          </a:p>
          <a:p>
            <a:r>
              <a:rPr lang="vi-VN" b="0" dirty="0"/>
              <a:t>​2. Khối Rẽ nhánh Logic Kết nối (Call &amp; Data Transmission Routing)</a:t>
            </a:r>
          </a:p>
          <a:p>
            <a:r>
              <a:rPr lang="vi-VN" b="0" dirty="0"/>
              <a:t>​​Nhánh 1: Cả Thoại và Dữ liệu đều thành công (Both Successful? -&gt; Yes)</a:t>
            </a:r>
          </a:p>
          <a:p>
            <a:r>
              <a:rPr lang="vi-VN" b="0" dirty="0"/>
              <a:t>​Trạng thái tiếp theo: Chuyển thẳng sang Talk with Operator (Đàm thoại trực tiếp).</a:t>
            </a:r>
            <a:endParaRPr lang="en-US" b="0" dirty="0"/>
          </a:p>
          <a:p>
            <a:endParaRPr lang="vi-VN" b="0" dirty="0"/>
          </a:p>
          <a:p>
            <a:r>
              <a:rPr lang="vi-VN" b="0" dirty="0"/>
              <a:t>​Nhánh 2: Chỉ thành công truyền Dữ liệu (Data Only)</a:t>
            </a:r>
          </a:p>
          <a:p>
            <a:r>
              <a:rPr lang="vi-VN" b="0" dirty="0"/>
              <a:t>​​Xử lý: </a:t>
            </a:r>
            <a:r>
              <a:rPr lang="en-US" b="0" dirty="0"/>
              <a:t>	</a:t>
            </a:r>
            <a:r>
              <a:rPr lang="vi-VN" b="0" dirty="0"/>
              <a:t>1.  Hệ thống chuyển sang trạng thái chờ/thử lại cuộc gọi thoại: Voice Retry Up to 24 hours.</a:t>
            </a:r>
          </a:p>
          <a:p>
            <a:r>
              <a:rPr lang="en-US" b="0" dirty="0"/>
              <a:t>	</a:t>
            </a:r>
            <a:r>
              <a:rPr lang="vi-VN" b="0" dirty="0"/>
              <a:t>2.  Kích hoạt Timer giám sát (theo *Note 1). Cứ mỗi 60 giây (1 phút), hệ thống sẽ kiểm tra lý do lỗi (Failure Reason):</a:t>
            </a:r>
          </a:p>
          <a:p>
            <a:r>
              <a:rPr lang="en-US" b="0" dirty="0"/>
              <a:t>		</a:t>
            </a:r>
            <a:r>
              <a:rPr lang="vi-VN" b="0" dirty="0"/>
              <a:t>* Nếu là No Coverage (Mất sóng hoàn toàn): Phát file thoại ACN-3 ("Không có tín hiệu mạng").</a:t>
            </a:r>
          </a:p>
          <a:p>
            <a:pPr marL="0" indent="0">
              <a:buFont typeface="Arial" panose="020B0604020202020204" pitchFamily="34" charset="0"/>
              <a:buNone/>
            </a:pPr>
            <a:r>
              <a:rPr lang="en-US" b="0" dirty="0"/>
              <a:t>		* </a:t>
            </a:r>
            <a:r>
              <a:rPr lang="vi-VN" b="0" dirty="0"/>
              <a:t>Nếu là Other (Lỗi nghẽn mạng, lỗi tổng đài bận...): Phát file thoại SOS_ACN-4 ("Lỗi kết nối cuộc gọi").</a:t>
            </a:r>
          </a:p>
          <a:p>
            <a:r>
              <a:rPr lang="en-US" b="0" dirty="0"/>
              <a:t>	</a:t>
            </a:r>
            <a:r>
              <a:rPr lang="vi-VN" b="0" dirty="0"/>
              <a:t>3.  Vòng lặp thử lại này chạy liên tục cho đến khi kết nối thoại thành công (Voice Retry Success? -&gt; Yes) để vào trạng thái Talk with Operator, HOẶC hết thời gian thử lại (hết 24 </a:t>
            </a:r>
            <a:r>
              <a:rPr lang="en-US" b="0" dirty="0"/>
              <a:t>	</a:t>
            </a:r>
            <a:r>
              <a:rPr lang="vi-VN" b="0" dirty="0"/>
              <a:t>giờ/hết ắc-quy) thì chuyển sang nhánh thất bại hoàn toàn.</a:t>
            </a:r>
            <a:endParaRPr lang="en-US" b="0" dirty="0"/>
          </a:p>
          <a:p>
            <a:endParaRPr lang="vi-VN" b="0" dirty="0"/>
          </a:p>
          <a:p>
            <a:r>
              <a:rPr lang="vi-VN" b="0" dirty="0"/>
              <a:t>​Nhánh 3: Chỉ thành công kết nối Thoại (Voice Only)</a:t>
            </a:r>
          </a:p>
          <a:p>
            <a:r>
              <a:rPr lang="vi-VN" b="0" dirty="0"/>
              <a:t>​</a:t>
            </a:r>
            <a:r>
              <a:rPr lang="en-US" b="0" dirty="0"/>
              <a:t>	</a:t>
            </a:r>
            <a:r>
              <a:rPr lang="vi-VN" b="0" dirty="0"/>
              <a:t>Xử lý dựa trên Biến thể phần cứng (DCM Variant):</a:t>
            </a:r>
          </a:p>
          <a:p>
            <a:r>
              <a:rPr lang="vi-VN" b="0" dirty="0"/>
              <a:t>​</a:t>
            </a:r>
            <a:r>
              <a:rPr lang="en-US" b="0" dirty="0"/>
              <a:t>	</a:t>
            </a:r>
            <a:r>
              <a:rPr lang="vi-VN" b="0" dirty="0"/>
              <a:t>Nếu là NA DCM (Thị trường Bắc Mỹ): Hệ thống sử dụng hạ tầng SMS làm kênh dự phòng (Fallback channel) -&gt; Thực hiện lệnh Upload Data via SMS. Sau khi gửi SMS chứa dữ liệu </a:t>
            </a:r>
            <a:r>
              <a:rPr lang="en-US" b="0" dirty="0"/>
              <a:t>	</a:t>
            </a:r>
            <a:r>
              <a:rPr lang="vi-VN" b="0" dirty="0"/>
              <a:t>xong, hệ thống duy trì trạng thái Talk with Operator.</a:t>
            </a:r>
          </a:p>
          <a:p>
            <a:r>
              <a:rPr lang="vi-VN" b="0" dirty="0"/>
              <a:t>​</a:t>
            </a:r>
            <a:r>
              <a:rPr lang="en-US" b="0" dirty="0"/>
              <a:t>	</a:t>
            </a:r>
            <a:r>
              <a:rPr lang="vi-VN" b="0" dirty="0"/>
              <a:t>Nếu là Variant khác (Other): Hệ thống kích hoạt bộ thử lại dữ liệu Data Retry Up to 24 hours (thử gửi lại gói data qua mạng cellular) song song với việc giữ kết nối đàm thoại Talk </a:t>
            </a:r>
            <a:r>
              <a:rPr lang="en-US" b="0" dirty="0"/>
              <a:t>	</a:t>
            </a:r>
            <a:r>
              <a:rPr lang="vi-VN" b="0" dirty="0"/>
              <a:t>with Operator.</a:t>
            </a:r>
          </a:p>
          <a:p>
            <a:endParaRPr lang="en-US" b="0" dirty="0"/>
          </a:p>
          <a:p>
            <a:r>
              <a:rPr lang="vi-VN" b="0" dirty="0"/>
              <a:t>​Nhánh 4: Thất bại hoàn toàn (No Voice, No Data)</a:t>
            </a:r>
          </a:p>
          <a:p>
            <a:r>
              <a:rPr lang="vi-VN" b="0" dirty="0"/>
              <a:t>​</a:t>
            </a:r>
            <a:r>
              <a:rPr lang="en-US" b="0" dirty="0"/>
              <a:t>	</a:t>
            </a:r>
            <a:r>
              <a:rPr lang="vi-VN" b="0" dirty="0"/>
              <a:t>NA DCM: Cố gắng kích hoạt giao thức Upload Data via SMS trước, sau đó đẩy toàn bộ vào luồng Voice + Data Retry Up to 24 hours.</a:t>
            </a:r>
          </a:p>
          <a:p>
            <a:r>
              <a:rPr lang="vi-VN" b="0" dirty="0"/>
              <a:t>​</a:t>
            </a:r>
            <a:r>
              <a:rPr lang="en-US" b="0" dirty="0"/>
              <a:t>	</a:t>
            </a:r>
            <a:r>
              <a:rPr lang="vi-VN" b="0" dirty="0"/>
              <a:t>Variant khác (Other): Vào thẳng luồng Voice + Data Retry Up to 24 hours. Hệ thống liên tục lặp lại chu kỳ quét mạng, thử kết nối lại cả thoại và dữ liệu, đồng thời phát tiếng thoại </a:t>
            </a:r>
            <a:r>
              <a:rPr lang="en-US" b="0" dirty="0"/>
              <a:t>	</a:t>
            </a:r>
            <a:r>
              <a:rPr lang="vi-VN" b="0" dirty="0"/>
              <a:t>ACN-3 hoặc SOS_ACN-4 mỗi phút một lần dựa trên trạng thái sóng thực tế (định thời bằng Timer Active *1).</a:t>
            </a:r>
            <a:endParaRPr lang="en-US" b="0" dirty="0"/>
          </a:p>
          <a:p>
            <a:endParaRPr lang="vi-VN" b="0" dirty="0"/>
          </a:p>
          <a:p>
            <a:r>
              <a:rPr lang="vi-VN" b="0" dirty="0"/>
              <a:t>​3. Khối Quản lý Kết thúc &amp; Chế độ Chờ Gọi lại (Termination &amp; Standby Phase)</a:t>
            </a:r>
          </a:p>
          <a:p>
            <a:r>
              <a:rPr lang="vi-VN" b="0" dirty="0"/>
              <a:t>​</a:t>
            </a:r>
            <a:r>
              <a:rPr lang="en-US" b="0" dirty="0"/>
              <a:t>	</a:t>
            </a:r>
            <a:r>
              <a:rPr lang="vi-VN" b="0" dirty="0"/>
              <a:t>Xử lý Ngoại lệ: Ngắt cuộc gọi bất thường (Termination Intentional?)</a:t>
            </a:r>
          </a:p>
          <a:p>
            <a:r>
              <a:rPr lang="vi-VN" b="0" dirty="0"/>
              <a:t>​</a:t>
            </a:r>
            <a:r>
              <a:rPr lang="en-US" b="0" dirty="0"/>
              <a:t>	</a:t>
            </a:r>
            <a:r>
              <a:rPr lang="vi-VN" b="0" dirty="0"/>
              <a:t>Khi cuộc gọi với operator kết thúc</a:t>
            </a:r>
            <a:r>
              <a:rPr lang="en-US" b="0" dirty="0"/>
              <a:t>, </a:t>
            </a:r>
            <a:r>
              <a:rPr lang="vi-VN" b="0" dirty="0"/>
              <a:t>hệ thống gửi một tín hiệu kết thúc lên hệ thống mạng. Ngay sau đó, phần mềm kiểm tra:</a:t>
            </a:r>
          </a:p>
          <a:p>
            <a:r>
              <a:rPr lang="vi-VN" b="0" dirty="0"/>
              <a:t>​</a:t>
            </a:r>
            <a:r>
              <a:rPr lang="en-US" b="0" dirty="0"/>
              <a:t>	</a:t>
            </a:r>
            <a:r>
              <a:rPr lang="vi-VN" b="0" dirty="0"/>
              <a:t>Nếu Termination Intentional? -&gt; No: Đây là trường hợp cuộc gọi bị rớt (Drop call) do xe di chuyển vào vùng sóng yếu, hầm, hoặc lỗi mạng giữa chừng chứ người dùng hay toán </a:t>
            </a:r>
            <a:r>
              <a:rPr lang="en-US" b="0" dirty="0"/>
              <a:t>	</a:t>
            </a:r>
            <a:r>
              <a:rPr lang="vi-VN" b="0" dirty="0"/>
              <a:t>viên chưa chủ động cúp máy.</a:t>
            </a:r>
          </a:p>
          <a:p>
            <a:r>
              <a:rPr lang="en-US" b="0" dirty="0"/>
              <a:t>	</a:t>
            </a:r>
            <a:r>
              <a:rPr lang="vi-VN" b="0" dirty="0"/>
              <a:t>​Hành động: Phát Play Prompt SOS_ACN-6 ("Cuộc gọi bị gián đoạn, hệ thống đang kết nối lại") và tự động quay ngược lại bước Start Emergency Voice Call... để tái thiết lập cuộc gọi.</a:t>
            </a:r>
          </a:p>
          <a:p>
            <a:r>
              <a:rPr lang="en-US" b="0" dirty="0"/>
              <a:t>	</a:t>
            </a:r>
            <a:r>
              <a:rPr lang="vi-VN" b="0" dirty="0"/>
              <a:t>​Nếu Termination Intentional? -&gt; Yes: Cuộc gọi kết thúc bình thường (Tổng đài viên bấm cúp máy sau khi đã xác nhận tình trạng xe).</a:t>
            </a:r>
          </a:p>
          <a:p>
            <a:r>
              <a:rPr lang="vi-VN" b="0" dirty="0"/>
              <a:t>​</a:t>
            </a:r>
            <a:r>
              <a:rPr lang="en-US" b="0" dirty="0"/>
              <a:t>	</a:t>
            </a:r>
            <a:r>
              <a:rPr lang="vi-VN" b="0" dirty="0"/>
              <a:t>Hành động: Tắt đèn LED xanh, phát thoại SOS_ACN-2 ("Kết thúc cuộc gọi, hệ thống chuyển sang chế độ chờ"), và kích hoạt bộ đếm thời gian chờ gọi lại (Start Callback Standby </a:t>
            </a:r>
            <a:r>
              <a:rPr lang="en-US" b="0" dirty="0"/>
              <a:t>	</a:t>
            </a:r>
            <a:r>
              <a:rPr lang="vi-VN" b="0" dirty="0"/>
              <a:t>Timer).</a:t>
            </a:r>
          </a:p>
          <a:p>
            <a:r>
              <a:rPr lang="vi-VN" b="0" dirty="0"/>
              <a:t>​Cơ chế Chờ cuộc gọi lại (TSP Callback Standby)</a:t>
            </a:r>
          </a:p>
          <a:p>
            <a:r>
              <a:rPr lang="vi-VN" b="0" dirty="0"/>
              <a:t>​Hệ thống chuyển về trạng thái TSP Callback Standby (Idle). Đây là trạng thái cực kỳ quan trọng trong Automotive Telematics nhằm giữ cho modem luôn "mở cửa" nhận cuộc gọi ngược từ tổng đài (ví dụ: cứu hộ muốn gọi lại để cập nhật vị trí xe).</a:t>
            </a:r>
          </a:p>
          <a:p>
            <a:r>
              <a:rPr lang="vi-VN" b="0" dirty="0"/>
              <a:t>​Kịch bản 1: Hết thời gian chờ (Timer Expired)</a:t>
            </a:r>
          </a:p>
          <a:p>
            <a:r>
              <a:rPr lang="vi-VN" b="0" dirty="0"/>
              <a:t>​Nếu trong suốt khoảng thời gian quy định (thường là 10 - 30 phút tùy cấu hình phần mềm) mà không có cuộc gọi nào từ TSP, hệ thống sẽ đóng Session khẩn cấp và quay về trạng thái nghỉ hoàn toàn (Idle).</a:t>
            </a:r>
          </a:p>
          <a:p>
            <a:r>
              <a:rPr lang="vi-VN" b="0" dirty="0"/>
              <a:t>​Kịch bản 2: Có yêu cầu gọi lại (TSP Callback Request)</a:t>
            </a:r>
          </a:p>
          <a:p>
            <a:r>
              <a:rPr lang="vi-VN" b="0" dirty="0"/>
              <a:t>​Nếu tổng đài gọi lại trong khi Timer còn chạy (Timer Active), DCM sẽ lập tức đánh thức hệ thống (Wake-up), nhấp nháy lại đèn LED xanh (Pattern C), phát tiếng Beep 8 và tự động bắt máy để đưa người dùng trở lại trạng thái Talk with Operator.</a:t>
            </a:r>
            <a:endParaRPr lang="en-US" b="0" dirty="0"/>
          </a:p>
          <a:p>
            <a:endParaRPr lang="vi-VN" b="0" dirty="0"/>
          </a:p>
          <a:p>
            <a:r>
              <a:rPr lang="vi-VN" b="0" dirty="0"/>
              <a:t>​4. Khối Xử lý Hủy bỏ / Thất bại Cuối cùng (Final Failure Handling)</a:t>
            </a:r>
          </a:p>
          <a:p>
            <a:r>
              <a:rPr lang="vi-VN" b="0" dirty="0"/>
              <a:t>​Trong trường hợp luồng Voice Retry lặp lại liên tục nhưng không thể kết nối lại thành công (Voice Retry Success? -&gt; No), hệ thống bắt buộc phải dừng tiến trình để tránh cạn kiệt ắc-quy xe (Battery Drain Management):</a:t>
            </a:r>
          </a:p>
          <a:p>
            <a:r>
              <a:rPr lang="vi-VN" b="0" dirty="0"/>
              <a:t>​Hệ thống kiểm tra Failure Reason lần cuối:</a:t>
            </a:r>
          </a:p>
          <a:p>
            <a:r>
              <a:rPr lang="vi-VN" b="0" dirty="0"/>
              <a:t>​Do No Coverage: Phát Play Prompt SOS_ACN-8 ("Không thể kết nối do không có tín hiệu mạng, vui lòng thử lại sau").</a:t>
            </a:r>
          </a:p>
          <a:p>
            <a:r>
              <a:rPr lang="vi-VN" b="0" dirty="0"/>
              <a:t>​Do Other: Phát Play Prompt SOS_ACN-9 ("Kết nối thất bại do lỗi hệ thống").</a:t>
            </a:r>
          </a:p>
          <a:p>
            <a:r>
              <a:rPr lang="vi-VN" b="0" dirty="0"/>
              <a:t>​Thực hiện Stop Green Indicator LED blink (Tắt đèn cảnh báo lỗi/hoạt động).</a:t>
            </a:r>
          </a:p>
          <a:p>
            <a:r>
              <a:rPr lang="vi-VN" b="0" dirty="0"/>
              <a:t>​Chuyển trạng thái máy trạng thái (State Machine) về lại TSP Callback Standby (Idle) để đợi một chu kỳ mới hoặc chờ lệnh gọi lại từ mạng nếu sóng ổn định trở lại.</a:t>
            </a:r>
          </a:p>
          <a:p>
            <a:endParaRPr lang="en-US" dirty="0"/>
          </a:p>
        </p:txBody>
      </p:sp>
      <p:sp>
        <p:nvSpPr>
          <p:cNvPr id="4" name="Slide Number Placeholder 3"/>
          <p:cNvSpPr>
            <a:spLocks noGrp="1"/>
          </p:cNvSpPr>
          <p:nvPr>
            <p:ph type="sldNum" sz="quarter" idx="5"/>
          </p:nvPr>
        </p:nvSpPr>
        <p:spPr/>
        <p:txBody>
          <a:bodyPr/>
          <a:lstStyle/>
          <a:p>
            <a:fld id="{4B1A1E8E-CCF2-4312-8FF9-A86431FF2C30}" type="slidenum">
              <a:rPr lang="en-US" smtClean="0"/>
              <a:t>13</a:t>
            </a:fld>
            <a:endParaRPr lang="en-US"/>
          </a:p>
        </p:txBody>
      </p:sp>
    </p:spTree>
    <p:extLst>
      <p:ext uri="{BB962C8B-B14F-4D97-AF65-F5344CB8AC3E}">
        <p14:creationId xmlns:p14="http://schemas.microsoft.com/office/powerpoint/2010/main" val="1250867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1D51C-82D2-5CD7-B50E-4BC59021E0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ED56EFE-7506-4511-F5CD-36EC769CC2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FAFB3AB-9879-F1EC-215B-CEB1F9C47A9D}"/>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6446B328-D404-7583-56B6-C169697D1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924B8-3A84-7A8D-9643-F61C19B81ABA}"/>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799470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BC50-C6D5-E3F0-5C8A-C67D14BE931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8366A0E-5047-26C6-4D34-31AF5EA5ED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04860B-3E12-496B-ACED-E5EEEADCBBF9}"/>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0A28E9EE-1E0E-A082-B2A9-3FEBAA8731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74A01-0B54-70EB-60D0-8963B16FAF86}"/>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177896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1AE2-C1B3-5F9E-E552-60938EE9902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0821A86-B0F1-820C-C86F-F6A9F012BB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4A8264-A06F-C56D-E16C-E42EBE0F71E2}"/>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04D75C06-FBE9-D924-547D-22343140CF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A7451-674D-AB7D-9150-CC694F6FDC5A}"/>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636564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482-6240-42C8-24A9-2DF842E5D1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E9C75BF-8355-B893-0557-A02280ABF67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C29BA96-9AD6-92E3-F403-747D8DE70E1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E49844A-D342-897E-D246-2A4758D0CC6C}"/>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6" name="Footer Placeholder 5">
            <a:extLst>
              <a:ext uri="{FF2B5EF4-FFF2-40B4-BE49-F238E27FC236}">
                <a16:creationId xmlns:a16="http://schemas.microsoft.com/office/drawing/2014/main" id="{B59AFC0C-F76E-6F1D-E5DD-188F96CAF5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4E9A4-A049-FB94-6A82-BCE7E6D4BAE1}"/>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209385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28026-CB33-A5F3-6C91-C043B70891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6AFBB44-FCFD-9A36-CBF1-27B384C32F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F2F6B69-8F98-6019-3239-2BF6ADEA79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DE827EF-9C30-F6C5-0C6C-0C6739E117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B958C75-1CC7-5D0F-435E-C079012C094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BB5F33F-389D-3225-0A50-4801F52346D7}"/>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8" name="Footer Placeholder 7">
            <a:extLst>
              <a:ext uri="{FF2B5EF4-FFF2-40B4-BE49-F238E27FC236}">
                <a16:creationId xmlns:a16="http://schemas.microsoft.com/office/drawing/2014/main" id="{EAE4B823-1205-FE5A-EE5E-2CF90C625C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637707-8394-5578-5427-A87A4B903C09}"/>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3191197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9AD09-C9BC-E6B6-9755-44E9B0FCCC4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9310B7-0398-4D5A-CB16-D3A1148EB247}"/>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4" name="Footer Placeholder 3">
            <a:extLst>
              <a:ext uri="{FF2B5EF4-FFF2-40B4-BE49-F238E27FC236}">
                <a16:creationId xmlns:a16="http://schemas.microsoft.com/office/drawing/2014/main" id="{A5988695-5832-4B2D-C652-D395F17C1E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64DF98-6857-D47B-7E7D-D17BCAC18F53}"/>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323130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A4DE0-3DF3-B532-65A1-8BE72741762D}"/>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3" name="Footer Placeholder 2">
            <a:extLst>
              <a:ext uri="{FF2B5EF4-FFF2-40B4-BE49-F238E27FC236}">
                <a16:creationId xmlns:a16="http://schemas.microsoft.com/office/drawing/2014/main" id="{328764BA-BFF4-232B-B2A0-995E1CC6A9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C0299A-741E-69F4-2406-24283E0216F7}"/>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314366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B448-6637-59EF-B5E2-A796348F34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8A93264-5B99-6046-9155-CB9FA88964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B0E57EA-39ED-8722-97B7-0EED7AC070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E742EC-7D30-A425-B7A8-22FF1ABA171F}"/>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6" name="Footer Placeholder 5">
            <a:extLst>
              <a:ext uri="{FF2B5EF4-FFF2-40B4-BE49-F238E27FC236}">
                <a16:creationId xmlns:a16="http://schemas.microsoft.com/office/drawing/2014/main" id="{F8CD2590-7C16-096E-D5CB-3CF7C949B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AD8C28-4F03-7429-203B-E2D57653A9C8}"/>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296598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BE33-B4A4-A414-7BC5-1C82DE19C23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92B300-34EB-E438-8811-5870E9C2D4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5A2CC-C9A1-EC7F-A5DA-E05353D9C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682287-7B1A-E9FA-4B21-9A4B6043D586}"/>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6" name="Footer Placeholder 5">
            <a:extLst>
              <a:ext uri="{FF2B5EF4-FFF2-40B4-BE49-F238E27FC236}">
                <a16:creationId xmlns:a16="http://schemas.microsoft.com/office/drawing/2014/main" id="{9C861D0B-61C4-62AB-3D04-82C5C881FF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E56DF-CBA1-1429-9A03-86CE280D3E91}"/>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1470518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E60F-4F38-03BC-D443-8A2413DD645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9E2D4BC-14D6-3C38-C9E3-96DF93C5B19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CFE417-EE0D-077F-B031-9D22988F41EE}"/>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F566068A-AB01-C82B-73A4-D6426011C8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F36B6A-E393-F6C8-C6CE-A4D41C9BB0E9}"/>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316718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9123E-BC2D-3E3C-498E-224B61801D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08A298-4B65-EA5D-EEE5-A0AC00484C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DE8D056-D7A1-CA39-4E68-EEC827D1A614}"/>
              </a:ext>
            </a:extLst>
          </p:cNvPr>
          <p:cNvSpPr>
            <a:spLocks noGrp="1"/>
          </p:cNvSpPr>
          <p:nvPr>
            <p:ph type="dt" sz="half" idx="10"/>
          </p:nvPr>
        </p:nvSpPr>
        <p:spPr/>
        <p:txBody>
          <a:body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E08F72FE-CFBD-B418-EA7F-5ED7E09BE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8BFC2-78D0-817C-E6C0-85F725BE10EB}"/>
              </a:ext>
            </a:extLst>
          </p:cNvPr>
          <p:cNvSpPr>
            <a:spLocks noGrp="1"/>
          </p:cNvSpPr>
          <p:nvPr>
            <p:ph type="sldNum" sz="quarter" idx="12"/>
          </p:nvPr>
        </p:nvSpPr>
        <p:spPr/>
        <p:txBody>
          <a:bodyPr/>
          <a:lstStyle/>
          <a:p>
            <a:fld id="{64660B6E-05C6-4E6A-AEFA-63CF3C5DF953}" type="slidenum">
              <a:rPr lang="en-US" smtClean="0"/>
              <a:t>‹#›</a:t>
            </a:fld>
            <a:endParaRPr lang="en-US"/>
          </a:p>
        </p:txBody>
      </p:sp>
    </p:spTree>
    <p:extLst>
      <p:ext uri="{BB962C8B-B14F-4D97-AF65-F5344CB8AC3E}">
        <p14:creationId xmlns:p14="http://schemas.microsoft.com/office/powerpoint/2010/main" val="3968051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784C56-2F6D-C959-082F-1BB0BDDE5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21E4B4-F107-D2A7-B773-9B3D2C9271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0CFF53-91C3-CFD7-8C2C-213928EBFC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844FA7-5D11-4E9F-A285-8F9AB4B36605}" type="datetimeFigureOut">
              <a:rPr lang="en-US" smtClean="0"/>
              <a:t>6/2/2026</a:t>
            </a:fld>
            <a:endParaRPr lang="en-US"/>
          </a:p>
        </p:txBody>
      </p:sp>
      <p:sp>
        <p:nvSpPr>
          <p:cNvPr id="5" name="Footer Placeholder 4">
            <a:extLst>
              <a:ext uri="{FF2B5EF4-FFF2-40B4-BE49-F238E27FC236}">
                <a16:creationId xmlns:a16="http://schemas.microsoft.com/office/drawing/2014/main" id="{A35883A7-C50E-C79E-152B-155ADA27C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B41DD7-44E9-AA64-9DDF-DEB5703B4B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660B6E-05C6-4E6A-AEFA-63CF3C5DF953}" type="slidenum">
              <a:rPr lang="en-US" smtClean="0"/>
              <a:t>‹#›</a:t>
            </a:fld>
            <a:endParaRPr lang="en-US"/>
          </a:p>
        </p:txBody>
      </p:sp>
    </p:spTree>
    <p:extLst>
      <p:ext uri="{BB962C8B-B14F-4D97-AF65-F5344CB8AC3E}">
        <p14:creationId xmlns:p14="http://schemas.microsoft.com/office/powerpoint/2010/main" val="1341255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D401-3CB1-3C8C-0661-F9CBF5C57680}"/>
              </a:ext>
            </a:extLst>
          </p:cNvPr>
          <p:cNvSpPr>
            <a:spLocks noGrp="1"/>
          </p:cNvSpPr>
          <p:nvPr>
            <p:ph type="ctrTitle"/>
          </p:nvPr>
        </p:nvSpPr>
        <p:spPr>
          <a:xfrm>
            <a:off x="2917370" y="593003"/>
            <a:ext cx="6357257" cy="1099272"/>
          </a:xfrm>
        </p:spPr>
        <p:txBody>
          <a:bodyPr/>
          <a:lstStyle/>
          <a:p>
            <a:r>
              <a:rPr lang="en-US" dirty="0"/>
              <a:t>TYT24_DCM project</a:t>
            </a:r>
          </a:p>
        </p:txBody>
      </p:sp>
      <p:sp>
        <p:nvSpPr>
          <p:cNvPr id="3" name="Subtitle 2">
            <a:extLst>
              <a:ext uri="{FF2B5EF4-FFF2-40B4-BE49-F238E27FC236}">
                <a16:creationId xmlns:a16="http://schemas.microsoft.com/office/drawing/2014/main" id="{64A0C0AD-77F7-A131-6117-AA393A8CBE79}"/>
              </a:ext>
            </a:extLst>
          </p:cNvPr>
          <p:cNvSpPr>
            <a:spLocks noGrp="1"/>
          </p:cNvSpPr>
          <p:nvPr>
            <p:ph type="subTitle" idx="1"/>
          </p:nvPr>
        </p:nvSpPr>
        <p:spPr>
          <a:xfrm>
            <a:off x="1909734" y="1941635"/>
            <a:ext cx="8372531" cy="3832863"/>
          </a:xfrm>
        </p:spPr>
        <p:txBody>
          <a:bodyPr>
            <a:noAutofit/>
          </a:bodyPr>
          <a:lstStyle/>
          <a:p>
            <a:pPr marL="457200" indent="-457200" algn="just">
              <a:buFont typeface="+mj-lt"/>
              <a:buAutoNum type="arabicPeriod"/>
            </a:pPr>
            <a:r>
              <a:rPr lang="en-US" sz="2800" dirty="0"/>
              <a:t>Telematics overview</a:t>
            </a:r>
          </a:p>
          <a:p>
            <a:pPr marL="457200" indent="-457200" algn="just">
              <a:buFont typeface="+mj-lt"/>
              <a:buAutoNum type="arabicPeriod"/>
            </a:pPr>
            <a:r>
              <a:rPr lang="en-US" sz="2800" dirty="0" err="1"/>
              <a:t>Ecall</a:t>
            </a:r>
            <a:r>
              <a:rPr lang="en-US" sz="2800" dirty="0"/>
              <a:t> overview</a:t>
            </a:r>
          </a:p>
          <a:p>
            <a:pPr marL="457200" indent="-457200" algn="just">
              <a:buFont typeface="+mj-lt"/>
              <a:buAutoNum type="arabicPeriod"/>
            </a:pPr>
            <a:r>
              <a:rPr lang="en-US" sz="2800" dirty="0"/>
              <a:t>Overall architecture of the project</a:t>
            </a:r>
          </a:p>
          <a:p>
            <a:pPr marL="457200" indent="-457200" algn="just">
              <a:buFont typeface="+mj-lt"/>
              <a:buAutoNum type="arabicPeriod"/>
            </a:pPr>
            <a:r>
              <a:rPr lang="en-US" sz="2800" dirty="0"/>
              <a:t>Project test nodes</a:t>
            </a:r>
          </a:p>
          <a:p>
            <a:pPr marL="457200" indent="-457200" algn="just">
              <a:buFont typeface="+mj-lt"/>
              <a:buAutoNum type="arabicPeriod"/>
            </a:pPr>
            <a:r>
              <a:rPr lang="en-US" sz="2800" dirty="0"/>
              <a:t>Components that need to be tested in the project</a:t>
            </a:r>
          </a:p>
          <a:p>
            <a:pPr marL="457200" indent="-457200" algn="just">
              <a:buFont typeface="+mj-lt"/>
              <a:buAutoNum type="arabicPeriod"/>
            </a:pPr>
            <a:r>
              <a:rPr lang="en-US" sz="2800" dirty="0"/>
              <a:t>CI/CD Model</a:t>
            </a:r>
          </a:p>
          <a:p>
            <a:pPr marL="457200" indent="-457200" algn="just">
              <a:buFont typeface="+mj-lt"/>
              <a:buAutoNum type="arabicPeriod"/>
            </a:pPr>
            <a:r>
              <a:rPr lang="en-US" sz="2800" dirty="0"/>
              <a:t>Build job on Jenkins</a:t>
            </a:r>
          </a:p>
        </p:txBody>
      </p:sp>
    </p:spTree>
    <p:extLst>
      <p:ext uri="{BB962C8B-B14F-4D97-AF65-F5344CB8AC3E}">
        <p14:creationId xmlns:p14="http://schemas.microsoft.com/office/powerpoint/2010/main" val="632928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97BE-3A51-642E-DA1A-E3B245608C25}"/>
              </a:ext>
            </a:extLst>
          </p:cNvPr>
          <p:cNvSpPr>
            <a:spLocks noGrp="1"/>
          </p:cNvSpPr>
          <p:nvPr>
            <p:ph type="title"/>
          </p:nvPr>
        </p:nvSpPr>
        <p:spPr/>
        <p:txBody>
          <a:bodyPr/>
          <a:lstStyle/>
          <a:p>
            <a:r>
              <a:rPr lang="en-US" b="1" i="1" dirty="0"/>
              <a:t>1. Telematics overview</a:t>
            </a:r>
          </a:p>
        </p:txBody>
      </p:sp>
      <p:pic>
        <p:nvPicPr>
          <p:cNvPr id="2050" name="Picture 2">
            <a:extLst>
              <a:ext uri="{FF2B5EF4-FFF2-40B4-BE49-F238E27FC236}">
                <a16:creationId xmlns:a16="http://schemas.microsoft.com/office/drawing/2014/main" id="{422DE3E4-9492-8F50-45B4-BFD019F0B39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491892" y="1825625"/>
            <a:ext cx="52082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275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EBBB5-142C-278D-6184-CC46401B13C4}"/>
              </a:ext>
            </a:extLst>
          </p:cNvPr>
          <p:cNvSpPr>
            <a:spLocks noGrp="1"/>
          </p:cNvSpPr>
          <p:nvPr>
            <p:ph type="title"/>
          </p:nvPr>
        </p:nvSpPr>
        <p:spPr/>
        <p:txBody>
          <a:bodyPr/>
          <a:lstStyle/>
          <a:p>
            <a:r>
              <a:rPr lang="en-US" b="1" i="1" dirty="0"/>
              <a:t>2. </a:t>
            </a:r>
            <a:r>
              <a:rPr lang="en-US" b="1" i="1" dirty="0" err="1"/>
              <a:t>Ecall</a:t>
            </a:r>
            <a:r>
              <a:rPr lang="en-US" b="1" i="1" dirty="0"/>
              <a:t> overview</a:t>
            </a:r>
          </a:p>
        </p:txBody>
      </p:sp>
      <p:pic>
        <p:nvPicPr>
          <p:cNvPr id="13" name="Content Placeholder 12">
            <a:extLst>
              <a:ext uri="{FF2B5EF4-FFF2-40B4-BE49-F238E27FC236}">
                <a16:creationId xmlns:a16="http://schemas.microsoft.com/office/drawing/2014/main" id="{6344749C-F4B0-44E0-4EA6-33D3C3EE881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74759" y="1150649"/>
            <a:ext cx="6642481" cy="4556702"/>
          </a:xfrm>
        </p:spPr>
      </p:pic>
    </p:spTree>
    <p:extLst>
      <p:ext uri="{BB962C8B-B14F-4D97-AF65-F5344CB8AC3E}">
        <p14:creationId xmlns:p14="http://schemas.microsoft.com/office/powerpoint/2010/main" val="1565129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BB9C-32A9-5AC4-6718-3776CF290BB2}"/>
              </a:ext>
            </a:extLst>
          </p:cNvPr>
          <p:cNvSpPr>
            <a:spLocks noGrp="1"/>
          </p:cNvSpPr>
          <p:nvPr>
            <p:ph type="title"/>
          </p:nvPr>
        </p:nvSpPr>
        <p:spPr/>
        <p:txBody>
          <a:bodyPr/>
          <a:lstStyle/>
          <a:p>
            <a:pPr algn="just"/>
            <a:r>
              <a:rPr lang="en-US" b="1" i="1" dirty="0"/>
              <a:t>3. Overall architecture of the project</a:t>
            </a:r>
          </a:p>
        </p:txBody>
      </p:sp>
      <p:pic>
        <p:nvPicPr>
          <p:cNvPr id="11" name="Content Placeholder 10">
            <a:extLst>
              <a:ext uri="{FF2B5EF4-FFF2-40B4-BE49-F238E27FC236}">
                <a16:creationId xmlns:a16="http://schemas.microsoft.com/office/drawing/2014/main" id="{2C58ABDE-8FEC-E67A-0D45-2EF9E04C62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50449" y="1745051"/>
            <a:ext cx="2291102" cy="4747824"/>
          </a:xfrm>
        </p:spPr>
      </p:pic>
    </p:spTree>
    <p:extLst>
      <p:ext uri="{BB962C8B-B14F-4D97-AF65-F5344CB8AC3E}">
        <p14:creationId xmlns:p14="http://schemas.microsoft.com/office/powerpoint/2010/main" val="432510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31AFF-4EA9-A53D-1363-839A60B5C4D7}"/>
              </a:ext>
            </a:extLst>
          </p:cNvPr>
          <p:cNvSpPr>
            <a:spLocks noGrp="1"/>
          </p:cNvSpPr>
          <p:nvPr>
            <p:ph type="title"/>
          </p:nvPr>
        </p:nvSpPr>
        <p:spPr/>
        <p:txBody>
          <a:bodyPr/>
          <a:lstStyle/>
          <a:p>
            <a:pPr algn="just"/>
            <a:r>
              <a:rPr lang="en-US" b="1" i="1" dirty="0"/>
              <a:t>4. Project test nodes</a:t>
            </a:r>
          </a:p>
        </p:txBody>
      </p:sp>
      <p:sp>
        <p:nvSpPr>
          <p:cNvPr id="3" name="Content Placeholder 2">
            <a:extLst>
              <a:ext uri="{FF2B5EF4-FFF2-40B4-BE49-F238E27FC236}">
                <a16:creationId xmlns:a16="http://schemas.microsoft.com/office/drawing/2014/main" id="{8FFB0A07-1E4A-09DB-65B2-4C3491A06A1C}"/>
              </a:ext>
            </a:extLst>
          </p:cNvPr>
          <p:cNvSpPr>
            <a:spLocks noGrp="1"/>
          </p:cNvSpPr>
          <p:nvPr>
            <p:ph idx="1"/>
          </p:nvPr>
        </p:nvSpPr>
        <p:spPr/>
        <p:txBody>
          <a:bodyPr>
            <a:normAutofit/>
          </a:bodyPr>
          <a:lstStyle/>
          <a:p>
            <a:pPr>
              <a:buFont typeface="Symbol" panose="05050102010706020507" pitchFamily="18" charset="2"/>
              <a:buChar char=""/>
            </a:pPr>
            <a:r>
              <a:rPr lang="en-US" dirty="0"/>
              <a:t>70: 4G (SANITY, BVT, API), test region: ASEAN, IN</a:t>
            </a:r>
          </a:p>
          <a:p>
            <a:pPr>
              <a:buFont typeface="Symbol" panose="05050102010706020507" pitchFamily="18" charset="2"/>
              <a:buChar char=""/>
            </a:pPr>
            <a:r>
              <a:rPr lang="en-US" dirty="0"/>
              <a:t>71: 5G (BVT, API), test region: NA</a:t>
            </a:r>
          </a:p>
          <a:p>
            <a:pPr>
              <a:buFont typeface="Symbol" panose="05050102010706020507" pitchFamily="18" charset="2"/>
              <a:buChar char=""/>
            </a:pPr>
            <a:r>
              <a:rPr lang="en-US" dirty="0"/>
              <a:t>72: 4G (SANITY, BVT, API), test </a:t>
            </a:r>
            <a:r>
              <a:rPr lang="en-US" dirty="0" err="1"/>
              <a:t>region:JP</a:t>
            </a:r>
            <a:endParaRPr lang="en-US" dirty="0"/>
          </a:p>
          <a:p>
            <a:pPr>
              <a:buFont typeface="Symbol" panose="05050102010706020507" pitchFamily="18" charset="2"/>
              <a:buChar char=""/>
            </a:pPr>
            <a:r>
              <a:rPr lang="en-US" dirty="0"/>
              <a:t>73: 5G (SANITY, BVT, API), test region: NA</a:t>
            </a:r>
          </a:p>
          <a:p>
            <a:pPr>
              <a:buFont typeface="Symbol" panose="05050102010706020507" pitchFamily="18" charset="2"/>
              <a:buChar char=""/>
            </a:pPr>
            <a:r>
              <a:rPr lang="en-US" dirty="0"/>
              <a:t>74: 5G (SANITY, BVT, API), test region: CN</a:t>
            </a:r>
          </a:p>
        </p:txBody>
      </p:sp>
    </p:spTree>
    <p:extLst>
      <p:ext uri="{BB962C8B-B14F-4D97-AF65-F5344CB8AC3E}">
        <p14:creationId xmlns:p14="http://schemas.microsoft.com/office/powerpoint/2010/main" val="510286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48B8-B6CE-8623-292E-5D3054488ACA}"/>
              </a:ext>
            </a:extLst>
          </p:cNvPr>
          <p:cNvSpPr>
            <a:spLocks noGrp="1"/>
          </p:cNvSpPr>
          <p:nvPr>
            <p:ph type="title"/>
          </p:nvPr>
        </p:nvSpPr>
        <p:spPr/>
        <p:txBody>
          <a:bodyPr>
            <a:normAutofit/>
          </a:bodyPr>
          <a:lstStyle/>
          <a:p>
            <a:r>
              <a:rPr lang="en-US" b="1" i="1" dirty="0"/>
              <a:t>5. Components that need to be tested in the project</a:t>
            </a:r>
          </a:p>
        </p:txBody>
      </p:sp>
      <p:sp>
        <p:nvSpPr>
          <p:cNvPr id="3" name="Content Placeholder 2">
            <a:extLst>
              <a:ext uri="{FF2B5EF4-FFF2-40B4-BE49-F238E27FC236}">
                <a16:creationId xmlns:a16="http://schemas.microsoft.com/office/drawing/2014/main" id="{84D457AB-3A27-8055-8050-61F8FA03B8A7}"/>
              </a:ext>
            </a:extLst>
          </p:cNvPr>
          <p:cNvSpPr>
            <a:spLocks noGrp="1"/>
          </p:cNvSpPr>
          <p:nvPr>
            <p:ph idx="1"/>
          </p:nvPr>
        </p:nvSpPr>
        <p:spPr/>
        <p:txBody>
          <a:bodyPr>
            <a:normAutofit lnSpcReduction="10000"/>
          </a:bodyPr>
          <a:lstStyle/>
          <a:p>
            <a:pPr marL="0" indent="0">
              <a:buNone/>
            </a:pPr>
            <a:r>
              <a:rPr lang="en-US" b="1" dirty="0"/>
              <a:t>5.1. BVT(Build Verification Testing)</a:t>
            </a:r>
          </a:p>
          <a:p>
            <a:pPr marL="0" indent="0">
              <a:buNone/>
            </a:pPr>
            <a:r>
              <a:rPr lang="en-US" dirty="0"/>
              <a:t>A</a:t>
            </a:r>
            <a:r>
              <a:rPr lang="en-US" dirty="0">
                <a:effectLst/>
              </a:rPr>
              <a:t> quick test suite to verify that a new build can run stably. It usually checks core functionalities such as </a:t>
            </a:r>
            <a:r>
              <a:rPr lang="en-US" b="1" dirty="0">
                <a:effectLst/>
              </a:rPr>
              <a:t>boot, flash, SIM, and connectivity</a:t>
            </a:r>
            <a:r>
              <a:rPr lang="en-US" dirty="0">
                <a:effectLst/>
              </a:rPr>
              <a:t>.</a:t>
            </a:r>
            <a:endParaRPr lang="en-US" dirty="0"/>
          </a:p>
          <a:p>
            <a:pPr marL="0" indent="0">
              <a:buNone/>
            </a:pPr>
            <a:r>
              <a:rPr lang="en-US" b="1" u="sng" dirty="0"/>
              <a:t>Purpose</a:t>
            </a:r>
          </a:p>
          <a:p>
            <a:r>
              <a:rPr lang="en-US" dirty="0">
                <a:effectLst/>
              </a:rPr>
              <a:t>Detect major defects early and reject faulty builds right from the start.</a:t>
            </a:r>
            <a:endParaRPr lang="en-US" dirty="0"/>
          </a:p>
          <a:p>
            <a:r>
              <a:rPr lang="en-US" dirty="0">
                <a:effectLst/>
              </a:rPr>
              <a:t>Ensure the new build is stable enough before executing more in-depth test suites.</a:t>
            </a:r>
            <a:endParaRPr lang="en-US" dirty="0"/>
          </a:p>
          <a:p>
            <a:r>
              <a:rPr lang="en-US" dirty="0">
                <a:effectLst/>
              </a:rPr>
              <a:t>Save time and effort for the testing team.</a:t>
            </a:r>
            <a:endParaRPr lang="en-US" dirty="0"/>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289796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48B8-B6CE-8623-292E-5D3054488ACA}"/>
              </a:ext>
            </a:extLst>
          </p:cNvPr>
          <p:cNvSpPr>
            <a:spLocks noGrp="1"/>
          </p:cNvSpPr>
          <p:nvPr>
            <p:ph type="title"/>
          </p:nvPr>
        </p:nvSpPr>
        <p:spPr/>
        <p:txBody>
          <a:bodyPr>
            <a:normAutofit/>
          </a:bodyPr>
          <a:lstStyle/>
          <a:p>
            <a:r>
              <a:rPr lang="en-US" b="1" i="1" dirty="0"/>
              <a:t>5. Components that need to be tested in the project</a:t>
            </a:r>
          </a:p>
        </p:txBody>
      </p:sp>
      <p:sp>
        <p:nvSpPr>
          <p:cNvPr id="3" name="Content Placeholder 2">
            <a:extLst>
              <a:ext uri="{FF2B5EF4-FFF2-40B4-BE49-F238E27FC236}">
                <a16:creationId xmlns:a16="http://schemas.microsoft.com/office/drawing/2014/main" id="{84D457AB-3A27-8055-8050-61F8FA03B8A7}"/>
              </a:ext>
            </a:extLst>
          </p:cNvPr>
          <p:cNvSpPr>
            <a:spLocks noGrp="1"/>
          </p:cNvSpPr>
          <p:nvPr>
            <p:ph idx="1"/>
          </p:nvPr>
        </p:nvSpPr>
        <p:spPr/>
        <p:txBody>
          <a:bodyPr>
            <a:normAutofit lnSpcReduction="10000"/>
          </a:bodyPr>
          <a:lstStyle/>
          <a:p>
            <a:pPr marL="0" indent="0">
              <a:buNone/>
            </a:pPr>
            <a:r>
              <a:rPr lang="en-US" b="1" dirty="0"/>
              <a:t>5.2. Sanity Testing</a:t>
            </a:r>
          </a:p>
          <a:p>
            <a:pPr marL="0" indent="0">
              <a:buNone/>
            </a:pPr>
            <a:r>
              <a:rPr lang="en-US" dirty="0">
                <a:effectLst/>
              </a:rPr>
              <a:t>It refers to a </a:t>
            </a:r>
            <a:r>
              <a:rPr lang="en-US" b="1" dirty="0">
                <a:effectLst/>
              </a:rPr>
              <a:t>general health check of the system</a:t>
            </a:r>
            <a:r>
              <a:rPr lang="en-US" dirty="0">
                <a:effectLst/>
              </a:rPr>
              <a:t>. It runs simple and fast test cases focusing on fundamental functionalities such as </a:t>
            </a:r>
            <a:r>
              <a:rPr lang="en-US" b="1" dirty="0">
                <a:effectLst/>
              </a:rPr>
              <a:t>calling, SMS, network, and SIM</a:t>
            </a:r>
            <a:r>
              <a:rPr lang="en-US" dirty="0">
                <a:effectLst/>
              </a:rPr>
              <a:t>. It helps verify that the system is usable before executing more complex test suites.</a:t>
            </a:r>
            <a:endParaRPr lang="en-US" dirty="0"/>
          </a:p>
          <a:p>
            <a:pPr marL="0" indent="0">
              <a:buNone/>
            </a:pPr>
            <a:r>
              <a:rPr lang="en-US" b="1" u="sng" dirty="0"/>
              <a:t>Purpose</a:t>
            </a:r>
          </a:p>
          <a:p>
            <a:pPr>
              <a:buFont typeface="Arial" panose="020B0604020202020204" pitchFamily="34" charset="0"/>
              <a:buChar char="•"/>
            </a:pPr>
            <a:r>
              <a:rPr lang="en-US" dirty="0">
                <a:effectLst/>
              </a:rPr>
              <a:t>Ensure that the basic functionalities work correctly.</a:t>
            </a:r>
            <a:endParaRPr lang="en-US" dirty="0"/>
          </a:p>
          <a:p>
            <a:pPr>
              <a:buFont typeface="Arial" panose="020B0604020202020204" pitchFamily="34" charset="0"/>
              <a:buChar char="•"/>
            </a:pPr>
            <a:r>
              <a:rPr lang="en-US" dirty="0">
                <a:effectLst/>
              </a:rPr>
              <a:t>Save time by detecting faulty builds early.</a:t>
            </a:r>
            <a:endParaRPr lang="en-US" dirty="0"/>
          </a:p>
          <a:p>
            <a:pPr>
              <a:buFont typeface="Arial" panose="020B0604020202020204" pitchFamily="34" charset="0"/>
              <a:buChar char="•"/>
            </a:pPr>
            <a:r>
              <a:rPr lang="en-US" dirty="0">
                <a:effectLst/>
              </a:rPr>
              <a:t>Build confidence to proceed with advanced testing phases.</a:t>
            </a:r>
            <a:endParaRPr lang="en-US" dirty="0"/>
          </a:p>
          <a:p>
            <a:pPr>
              <a:buFont typeface="Arial" panose="020B0604020202020204" pitchFamily="34" charset="0"/>
              <a:buChar char="•"/>
            </a:pPr>
            <a:r>
              <a:rPr lang="en-US" dirty="0">
                <a:effectLst/>
              </a:rPr>
              <a:t>Reduce risks when running long and complex test scenarios.</a:t>
            </a:r>
            <a:endParaRPr lang="en-US" dirty="0"/>
          </a:p>
          <a:p>
            <a:pPr marL="0" indent="0">
              <a:buNone/>
            </a:pPr>
            <a:endParaRPr lang="en-US" b="1" dirty="0"/>
          </a:p>
        </p:txBody>
      </p:sp>
    </p:spTree>
    <p:extLst>
      <p:ext uri="{BB962C8B-B14F-4D97-AF65-F5344CB8AC3E}">
        <p14:creationId xmlns:p14="http://schemas.microsoft.com/office/powerpoint/2010/main" val="4192168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48B8-B6CE-8623-292E-5D3054488ACA}"/>
              </a:ext>
            </a:extLst>
          </p:cNvPr>
          <p:cNvSpPr>
            <a:spLocks noGrp="1"/>
          </p:cNvSpPr>
          <p:nvPr>
            <p:ph type="title"/>
          </p:nvPr>
        </p:nvSpPr>
        <p:spPr/>
        <p:txBody>
          <a:bodyPr>
            <a:normAutofit/>
          </a:bodyPr>
          <a:lstStyle/>
          <a:p>
            <a:r>
              <a:rPr lang="en-US" b="1" i="1" dirty="0"/>
              <a:t>5. Components that need to be tested in the project</a:t>
            </a:r>
          </a:p>
        </p:txBody>
      </p:sp>
      <p:sp>
        <p:nvSpPr>
          <p:cNvPr id="3" name="Content Placeholder 2">
            <a:extLst>
              <a:ext uri="{FF2B5EF4-FFF2-40B4-BE49-F238E27FC236}">
                <a16:creationId xmlns:a16="http://schemas.microsoft.com/office/drawing/2014/main" id="{84D457AB-3A27-8055-8050-61F8FA03B8A7}"/>
              </a:ext>
            </a:extLst>
          </p:cNvPr>
          <p:cNvSpPr>
            <a:spLocks noGrp="1"/>
          </p:cNvSpPr>
          <p:nvPr>
            <p:ph idx="1"/>
          </p:nvPr>
        </p:nvSpPr>
        <p:spPr/>
        <p:txBody>
          <a:bodyPr/>
          <a:lstStyle/>
          <a:p>
            <a:pPr marL="0" indent="0">
              <a:buNone/>
            </a:pPr>
            <a:r>
              <a:rPr lang="en-US" b="1" dirty="0"/>
              <a:t>5.3. API Testing</a:t>
            </a:r>
          </a:p>
          <a:p>
            <a:pPr marL="0" indent="0">
              <a:buNone/>
            </a:pPr>
            <a:endParaRPr lang="en-US" b="1" dirty="0"/>
          </a:p>
        </p:txBody>
      </p:sp>
      <p:pic>
        <p:nvPicPr>
          <p:cNvPr id="4" name="Picture 3">
            <a:extLst>
              <a:ext uri="{FF2B5EF4-FFF2-40B4-BE49-F238E27FC236}">
                <a16:creationId xmlns:a16="http://schemas.microsoft.com/office/drawing/2014/main" id="{A3E740B7-011F-21DC-7353-C9F1A7C7C05F}"/>
              </a:ext>
            </a:extLst>
          </p:cNvPr>
          <p:cNvPicPr>
            <a:picLocks noChangeAspect="1"/>
          </p:cNvPicPr>
          <p:nvPr/>
        </p:nvPicPr>
        <p:blipFill>
          <a:blip r:embed="rId3"/>
          <a:stretch>
            <a:fillRect/>
          </a:stretch>
        </p:blipFill>
        <p:spPr>
          <a:xfrm>
            <a:off x="3078928" y="2265591"/>
            <a:ext cx="6034143" cy="3471406"/>
          </a:xfrm>
          <a:prstGeom prst="rect">
            <a:avLst/>
          </a:prstGeom>
        </p:spPr>
      </p:pic>
    </p:spTree>
    <p:extLst>
      <p:ext uri="{BB962C8B-B14F-4D97-AF65-F5344CB8AC3E}">
        <p14:creationId xmlns:p14="http://schemas.microsoft.com/office/powerpoint/2010/main" val="2519258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B57ED-EDF6-185A-B685-91E90C9FE3E8}"/>
              </a:ext>
            </a:extLst>
          </p:cNvPr>
          <p:cNvSpPr>
            <a:spLocks noGrp="1"/>
          </p:cNvSpPr>
          <p:nvPr>
            <p:ph type="title"/>
          </p:nvPr>
        </p:nvSpPr>
        <p:spPr/>
        <p:txBody>
          <a:bodyPr/>
          <a:lstStyle/>
          <a:p>
            <a:r>
              <a:rPr lang="en-US" b="1" i="1" dirty="0"/>
              <a:t>6. CI/CD MODEL</a:t>
            </a:r>
          </a:p>
        </p:txBody>
      </p:sp>
      <p:pic>
        <p:nvPicPr>
          <p:cNvPr id="1026" name="Picture 2" descr="CI CD là gì? Những lợi ích mà nó mang lại cho doanh nghiệp là gì?">
            <a:extLst>
              <a:ext uri="{FF2B5EF4-FFF2-40B4-BE49-F238E27FC236}">
                <a16:creationId xmlns:a16="http://schemas.microsoft.com/office/drawing/2014/main" id="{8DE6DD14-6401-B427-2FCC-ACBF5C118F8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4125" y="1996281"/>
            <a:ext cx="7143750"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02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7658-DC41-A6BF-7D58-AF8F65796701}"/>
              </a:ext>
            </a:extLst>
          </p:cNvPr>
          <p:cNvSpPr>
            <a:spLocks noGrp="1"/>
          </p:cNvSpPr>
          <p:nvPr>
            <p:ph type="title"/>
          </p:nvPr>
        </p:nvSpPr>
        <p:spPr/>
        <p:txBody>
          <a:bodyPr/>
          <a:lstStyle/>
          <a:p>
            <a:r>
              <a:rPr lang="en-US" b="1" i="1" dirty="0"/>
              <a:t>7. BUILD JOBS ON JENDKINS</a:t>
            </a:r>
          </a:p>
        </p:txBody>
      </p:sp>
      <p:pic>
        <p:nvPicPr>
          <p:cNvPr id="8" name="Content Placeholder 7">
            <a:extLst>
              <a:ext uri="{FF2B5EF4-FFF2-40B4-BE49-F238E27FC236}">
                <a16:creationId xmlns:a16="http://schemas.microsoft.com/office/drawing/2014/main" id="{E18ED9FA-7857-28DA-AFD8-76885146C4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420585"/>
            <a:ext cx="3809524" cy="3809524"/>
          </a:xfrm>
        </p:spPr>
      </p:pic>
      <p:pic>
        <p:nvPicPr>
          <p:cNvPr id="10" name="Picture 9">
            <a:extLst>
              <a:ext uri="{FF2B5EF4-FFF2-40B4-BE49-F238E27FC236}">
                <a16:creationId xmlns:a16="http://schemas.microsoft.com/office/drawing/2014/main" id="{11D3DA48-43C9-D06B-FCC1-4DE432F295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4434" y="1420585"/>
            <a:ext cx="6734455" cy="4563933"/>
          </a:xfrm>
          <a:prstGeom prst="rect">
            <a:avLst/>
          </a:prstGeom>
        </p:spPr>
      </p:pic>
    </p:spTree>
    <p:extLst>
      <p:ext uri="{BB962C8B-B14F-4D97-AF65-F5344CB8AC3E}">
        <p14:creationId xmlns:p14="http://schemas.microsoft.com/office/powerpoint/2010/main" val="2286316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3A167-ACB9-3F19-9804-7CB7D5F293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1567A5-4539-F5E2-0DCF-1B47A8F1984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2350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ACA91-017D-8E73-E141-6A8B959668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2AC3C1-7BE7-F5F3-4D2D-B0140140F4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01731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23AF-A55B-D6D8-5FB8-66AEE040B729}"/>
              </a:ext>
            </a:extLst>
          </p:cNvPr>
          <p:cNvSpPr>
            <a:spLocks noGrp="1"/>
          </p:cNvSpPr>
          <p:nvPr>
            <p:ph type="title"/>
          </p:nvPr>
        </p:nvSpPr>
        <p:spPr/>
        <p:txBody>
          <a:bodyPr/>
          <a:lstStyle/>
          <a:p>
            <a:endParaRPr lang="en-US"/>
          </a:p>
        </p:txBody>
      </p:sp>
      <p:pic>
        <p:nvPicPr>
          <p:cNvPr id="14" name="Content Placeholder 13">
            <a:extLst>
              <a:ext uri="{FF2B5EF4-FFF2-40B4-BE49-F238E27FC236}">
                <a16:creationId xmlns:a16="http://schemas.microsoft.com/office/drawing/2014/main" id="{0A5FD504-E2BE-AA73-A714-D5849AE7A57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5400000">
            <a:off x="2666999" y="442452"/>
            <a:ext cx="6858001" cy="5973097"/>
          </a:xfrm>
          <a:prstGeom prst="rect">
            <a:avLst/>
          </a:prstGeom>
        </p:spPr>
      </p:pic>
    </p:spTree>
    <p:extLst>
      <p:ext uri="{BB962C8B-B14F-4D97-AF65-F5344CB8AC3E}">
        <p14:creationId xmlns:p14="http://schemas.microsoft.com/office/powerpoint/2010/main" val="4089630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919</TotalTime>
  <Words>4565</Words>
  <Application>Microsoft Office PowerPoint</Application>
  <PresentationFormat>Widescreen</PresentationFormat>
  <Paragraphs>246</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Arial</vt:lpstr>
      <vt:lpstr>Symbol</vt:lpstr>
      <vt:lpstr>Office Theme</vt:lpstr>
      <vt:lpstr>TYT24_DCM project</vt:lpstr>
      <vt:lpstr>1. Telematics overview</vt:lpstr>
      <vt:lpstr>2. Ecall overview</vt:lpstr>
      <vt:lpstr>3. Overall architecture of the project</vt:lpstr>
      <vt:lpstr>4. Project test nodes</vt:lpstr>
      <vt:lpstr>5. Components that need to be tested in the project</vt:lpstr>
      <vt:lpstr>5. Components that need to be tested in the project</vt:lpstr>
      <vt:lpstr>5. Components that need to be tested in the project</vt:lpstr>
      <vt:lpstr>6. CI/CD MODEL</vt:lpstr>
      <vt:lpstr>7. BUILD JOBS ON JENDKINS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DucAnh Pham/LGEDV AUTOMATION VALIDATION TEAM</dc:creator>
  <cp:lastModifiedBy>DucAnh Pham/LGEDV AUTOMATION VALIDATION TEAM</cp:lastModifiedBy>
  <cp:revision>12</cp:revision>
  <dcterms:created xsi:type="dcterms:W3CDTF">2026-06-01T02:16:29Z</dcterms:created>
  <dcterms:modified xsi:type="dcterms:W3CDTF">2026-06-02T08:36:21Z</dcterms:modified>
</cp:coreProperties>
</file>